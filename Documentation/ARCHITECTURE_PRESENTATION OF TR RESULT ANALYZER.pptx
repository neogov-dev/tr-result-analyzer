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Rigor Analyzer &amp; Rerunner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 Presentation</a:t>
            </a:r>
          </a:p>
          <a:p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What is Test Rigor Analyzer &amp; Rerunner?</a:t>
            </a:r>
          </a:p>
          <a:p>
            <a:pPr>
              <a:defRPr sz="1800"/>
            </a:pPr>
          </a:p>
          <a:p>
            <a:pPr>
              <a:defRPr sz="1600"/>
            </a:pPr>
            <a:r>
              <a:t>✅ Generate Failure Reports - Analyze single test runs with detailed failure information</a:t>
            </a:r>
          </a:p>
          <a:p>
            <a:pPr>
              <a:defRPr sz="1600"/>
            </a:pPr>
            <a:r>
              <a:t>✅ Intelligent Rerun - Rerun all failed tests or selective tests with one click</a:t>
            </a:r>
          </a:p>
          <a:p>
            <a:pPr>
              <a:defRPr sz="1600"/>
            </a:pPr>
            <a:r>
              <a:t>✅ Compare Multiple Runs - Side-by-side comparison of up to 7 test runs</a:t>
            </a:r>
          </a:p>
          <a:p>
            <a:pPr>
              <a:defRPr sz="1600"/>
            </a:pPr>
            <a:r>
              <a:t>✅ Calculate RTR - Run-Through Rate metrics with valid failure handling</a:t>
            </a:r>
          </a:p>
          <a:p>
            <a:pPr>
              <a:defRPr sz="1600"/>
            </a:pPr>
            <a:r>
              <a:t>✅ Export to Excel - Professional reports with multiple sheets and formatting</a:t>
            </a:r>
          </a:p>
          <a:p>
            <a:pPr>
              <a:defRPr sz="1600"/>
            </a:pPr>
            <a:r>
              <a:t>✅ Direct TestRigor Integration - Edit test cases directly from the dashboard</a:t>
            </a:r>
          </a:p>
          <a:p>
            <a:pPr>
              <a:defRPr sz="1600"/>
            </a:pPr>
            <a:r>
              <a:t>✅ Multi-Suite Support - 16+ pre-configured TestRigor environments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Frontend Code: 3,287 lines (HTML/CSS/JavaScript)</a:t>
            </a:r>
          </a:p>
          <a:p>
            <a:pPr>
              <a:defRPr sz="2000"/>
            </a:pPr>
            <a:r>
              <a:t>Backend Code: 1,136 lines (Python/Flask)</a:t>
            </a:r>
          </a:p>
          <a:p>
            <a:pPr>
              <a:defRPr sz="2000"/>
            </a:pPr>
            <a:r>
              <a:t>Supported Runs: Up to 7 simultaneous comparisons</a:t>
            </a:r>
          </a:p>
          <a:p>
            <a:pPr>
              <a:defRPr sz="2000"/>
            </a:pPr>
            <a:r>
              <a:t>Suites Configured: 16+ TestRigor environments</a:t>
            </a:r>
          </a:p>
          <a:p>
            <a:pPr>
              <a:defRPr sz="2000"/>
            </a:pPr>
            <a:r>
              <a:t>API Endpoints: 4 REST endpoints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latin typeface="Courier New"/>
              </a:defRPr>
            </a:pPr>
          </a:p>
          <a:p>
            <a:pPr>
              <a:defRPr sz="900">
                <a:latin typeface="Courier New"/>
              </a:defRPr>
            </a:pPr>
            <a:r>
              <a:t>┌────────────────────────────────────────┐</a:t>
            </a:r>
          </a:p>
          <a:p>
            <a:pPr>
              <a:defRPr sz="900">
                <a:latin typeface="Courier New"/>
              </a:defRPr>
            </a:pPr>
            <a:r>
              <a:t>│         USER LAYER                     │</a:t>
            </a:r>
          </a:p>
          <a:p>
            <a:pPr>
              <a:defRPr sz="900">
                <a:latin typeface="Courier New"/>
              </a:defRPr>
            </a:pPr>
            <a:r>
              <a:t>│   Web Browser (localhost:5000)         │</a:t>
            </a:r>
          </a:p>
          <a:p>
            <a:pPr>
              <a:defRPr sz="900">
                <a:latin typeface="Courier New"/>
              </a:defRPr>
            </a:pPr>
            <a:r>
              <a:t>│                                        │</a:t>
            </a:r>
          </a:p>
          <a:p>
            <a:pPr>
              <a:defRPr sz="900">
                <a:latin typeface="Courier New"/>
              </a:defRPr>
            </a:pPr>
            <a:r>
              <a:t>│  [Generate] [Compare] [Cumulative RTR] │</a:t>
            </a:r>
          </a:p>
          <a:p>
            <a:pPr>
              <a:defRPr sz="900">
                <a:latin typeface="Courier New"/>
              </a:defRPr>
            </a:pPr>
            <a:r>
              <a:t>└────────────────────────────────────────┘</a:t>
            </a:r>
          </a:p>
          <a:p>
            <a:pPr>
              <a:defRPr sz="900">
                <a:latin typeface="Courier New"/>
              </a:defRPr>
            </a:pPr>
            <a:r>
              <a:t>              ↕ HTTP/JSON</a:t>
            </a:r>
          </a:p>
          <a:p>
            <a:pPr>
              <a:defRPr sz="900">
                <a:latin typeface="Courier New"/>
              </a:defRPr>
            </a:pPr>
            <a:r>
              <a:t>┌────────────────────────────────────────┐</a:t>
            </a:r>
          </a:p>
          <a:p>
            <a:pPr>
              <a:defRPr sz="900">
                <a:latin typeface="Courier New"/>
              </a:defRPr>
            </a:pPr>
            <a:r>
              <a:t>│      APPLICATION LAYER                 │</a:t>
            </a:r>
          </a:p>
          <a:p>
            <a:pPr>
              <a:defRPr sz="900">
                <a:latin typeface="Courier New"/>
              </a:defRPr>
            </a:pPr>
            <a:r>
              <a:t>│   Flask Web Server (Python)            │</a:t>
            </a:r>
          </a:p>
          <a:p>
            <a:pPr>
              <a:defRPr sz="900">
                <a:latin typeface="Courier New"/>
              </a:defRPr>
            </a:pPr>
            <a:r>
              <a:t>│                                        │</a:t>
            </a:r>
          </a:p>
          <a:p>
            <a:pPr>
              <a:defRPr sz="900">
                <a:latin typeface="Courier New"/>
              </a:defRPr>
            </a:pPr>
            <a:r>
              <a:t>│  REST API Endpoints:                   │</a:t>
            </a:r>
          </a:p>
          <a:p>
            <a:pPr>
              <a:defRPr sz="900">
                <a:latin typeface="Courier New"/>
              </a:defRPr>
            </a:pPr>
            <a:r>
              <a:t>│  • /api/generate-report                │</a:t>
            </a:r>
          </a:p>
          <a:p>
            <a:pPr>
              <a:defRPr sz="900">
                <a:latin typeface="Courier New"/>
              </a:defRPr>
            </a:pPr>
            <a:r>
              <a:t>│  • /api/compare-runs                   │</a:t>
            </a:r>
          </a:p>
          <a:p>
            <a:pPr>
              <a:defRPr sz="900">
                <a:latin typeface="Courier New"/>
              </a:defRPr>
            </a:pPr>
            <a:r>
              <a:t>│  • /api/download-summary-report        │</a:t>
            </a:r>
          </a:p>
          <a:p>
            <a:pPr>
              <a:defRPr sz="900">
                <a:latin typeface="Courier New"/>
              </a:defRPr>
            </a:pPr>
            <a:r>
              <a:t>│  • /api/calculate-cumulative-rtr       │</a:t>
            </a:r>
          </a:p>
          <a:p>
            <a:pPr>
              <a:defRPr sz="900">
                <a:latin typeface="Courier New"/>
              </a:defRPr>
            </a:pPr>
            <a:r>
              <a:t>│                                        │</a:t>
            </a:r>
          </a:p>
          <a:p>
            <a:pPr>
              <a:defRPr sz="900">
                <a:latin typeface="Courier New"/>
              </a:defRPr>
            </a:pPr>
            <a:r>
              <a:t>│  Business Logic:                       │</a:t>
            </a:r>
          </a:p>
          <a:p>
            <a:pPr>
              <a:defRPr sz="900">
                <a:latin typeface="Courier New"/>
              </a:defRPr>
            </a:pPr>
            <a:r>
              <a:t>│  • Test result processing              │</a:t>
            </a:r>
          </a:p>
          <a:p>
            <a:pPr>
              <a:defRPr sz="900">
                <a:latin typeface="Courier New"/>
              </a:defRPr>
            </a:pPr>
            <a:r>
              <a:t>│  • RTR calculations                    │</a:t>
            </a:r>
          </a:p>
          <a:p>
            <a:pPr>
              <a:defRPr sz="900">
                <a:latin typeface="Courier New"/>
              </a:defRPr>
            </a:pPr>
            <a:r>
              <a:t>│  • Failure detection &amp; analysis        │</a:t>
            </a:r>
          </a:p>
          <a:p>
            <a:pPr>
              <a:defRPr sz="900">
                <a:latin typeface="Courier New"/>
              </a:defRPr>
            </a:pPr>
            <a:r>
              <a:t>└────────────────────────────────────────┘</a:t>
            </a:r>
          </a:p>
          <a:p>
            <a:pPr>
              <a:defRPr sz="900">
                <a:latin typeface="Courier New"/>
              </a:defRPr>
            </a:pPr>
            <a:r>
              <a:t>              ↕ HTTPS/JSON</a:t>
            </a:r>
          </a:p>
          <a:p>
            <a:pPr>
              <a:defRPr sz="900">
                <a:latin typeface="Courier New"/>
              </a:defRPr>
            </a:pPr>
            <a:r>
              <a:t>┌────────────────────────────────────────┐</a:t>
            </a:r>
          </a:p>
          <a:p>
            <a:pPr>
              <a:defRPr sz="900">
                <a:latin typeface="Courier New"/>
              </a:defRPr>
            </a:pPr>
            <a:r>
              <a:t>│      INTEGRATION LAYER                 │</a:t>
            </a:r>
          </a:p>
          <a:p>
            <a:pPr>
              <a:defRPr sz="900">
                <a:latin typeface="Courier New"/>
              </a:defRPr>
            </a:pPr>
            <a:r>
              <a:t>│   TestRigor REST API (External)        │</a:t>
            </a:r>
          </a:p>
          <a:p>
            <a:pPr>
              <a:defRPr sz="900">
                <a:latin typeface="Courier New"/>
              </a:defRPr>
            </a:pPr>
            <a:r>
              <a:t>│   https://api2.testrigor.com/api/v1    │</a:t>
            </a:r>
          </a:p>
          <a:p>
            <a:pPr>
              <a:defRPr sz="900">
                <a:latin typeface="Courier New"/>
              </a:defRPr>
            </a:pPr>
            <a:r>
              <a:t>└────────────────────────────────────────┘</a:t>
            </a:r>
          </a:p>
          <a:p>
            <a:pPr>
              <a:defRPr sz="900">
                <a:latin typeface="Courier New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Frontend</a:t>
            </a:r>
          </a:p>
          <a:p>
            <a:pPr lvl="1">
              <a:defRPr sz="1600"/>
            </a:pPr>
            <a:r>
              <a:t>HTML5 + CSS3 - Modern web standards</a:t>
            </a:r>
          </a:p>
          <a:p>
            <a:pPr lvl="1">
              <a:defRPr sz="1600"/>
            </a:pPr>
            <a:r>
              <a:t>Vanilla JavaScript - ES6+, No frameworks</a:t>
            </a:r>
          </a:p>
          <a:p>
            <a:pPr lvl="1">
              <a:defRPr sz="1600"/>
            </a:pPr>
            <a:r>
              <a:t>CSS Grid &amp; Flexbox - Responsive layouts</a:t>
            </a:r>
          </a:p>
          <a:p>
            <a:pPr>
              <a:defRPr sz="1800"/>
            </a:pPr>
          </a:p>
          <a:p>
            <a:pPr>
              <a:defRPr sz="2400"/>
            </a:pPr>
            <a:r>
              <a:t>Backend</a:t>
            </a:r>
          </a:p>
          <a:p>
            <a:pPr lvl="1">
              <a:defRPr sz="1600"/>
            </a:pPr>
            <a:r>
              <a:t>Python 3.8+ - Core language</a:t>
            </a:r>
          </a:p>
          <a:p>
            <a:pPr lvl="1">
              <a:defRPr sz="1600"/>
            </a:pPr>
            <a:r>
              <a:t>Flask 3.0.0 - Web framework</a:t>
            </a:r>
          </a:p>
          <a:p>
            <a:pPr lvl="1">
              <a:defRPr sz="1600"/>
            </a:pPr>
            <a:r>
              <a:t>Requests - HTTP client library</a:t>
            </a:r>
          </a:p>
          <a:p>
            <a:pPr lvl="1">
              <a:defRPr sz="1600"/>
            </a:pPr>
            <a:r>
              <a:t>OpenpyXL - Excel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Intelligent Rerun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Automated Test Rerun Capabilities</a:t>
            </a:r>
          </a:p>
          <a:p>
            <a:pPr>
              <a:defRPr sz="1800"/>
            </a:pPr>
          </a:p>
          <a:p>
            <a:pPr>
              <a:defRPr sz="2000"/>
            </a:pPr>
            <a:r>
              <a:t>🔄 Rerun All Failed Tests</a:t>
            </a:r>
          </a:p>
          <a:p>
            <a:pPr lvl="1">
              <a:defRPr sz="1600"/>
            </a:pPr>
            <a:r>
              <a:t>• Automatically identify all failed tests from a run</a:t>
            </a:r>
          </a:p>
          <a:p>
            <a:pPr lvl="1">
              <a:defRPr sz="1600"/>
            </a:pPr>
            <a:r>
              <a:t>• Generate rerun command with all failed test IDs</a:t>
            </a:r>
          </a:p>
          <a:p>
            <a:pPr lvl="1">
              <a:defRPr sz="1600"/>
            </a:pPr>
            <a:r>
              <a:t>• One-click execution to retry failures</a:t>
            </a:r>
          </a:p>
          <a:p>
            <a:pPr>
              <a:defRPr sz="1800"/>
            </a:pPr>
          </a:p>
          <a:p>
            <a:pPr>
              <a:defRPr sz="2000"/>
            </a:pPr>
            <a:r>
              <a:t>🎯 Selective Test Rerun</a:t>
            </a:r>
          </a:p>
          <a:p>
            <a:pPr lvl="1">
              <a:defRPr sz="1600"/>
            </a:pPr>
            <a:r>
              <a:t>• Choose specific tests to rerun</a:t>
            </a:r>
          </a:p>
          <a:p>
            <a:pPr lvl="1">
              <a:defRPr sz="1600"/>
            </a:pPr>
            <a:r>
              <a:t>• Multi-select functionality for test cases</a:t>
            </a:r>
          </a:p>
          <a:p>
            <a:pPr lvl="1">
              <a:defRPr sz="1600"/>
            </a:pPr>
            <a:r>
              <a:t>• Custom rerun command generation</a:t>
            </a:r>
          </a:p>
          <a:p>
            <a:pPr>
              <a:defRPr sz="1800"/>
            </a:pPr>
          </a:p>
          <a:p>
            <a:pPr>
              <a:defRPr sz="2000"/>
            </a:pPr>
            <a:r>
              <a:t>🔗 Direct TestRigor Integration</a:t>
            </a:r>
          </a:p>
          <a:p>
            <a:pPr lvl="1">
              <a:defRPr sz="1600"/>
            </a:pPr>
            <a:r>
              <a:t>• Click-to-edit links for each test case</a:t>
            </a:r>
          </a:p>
          <a:p>
            <a:pPr lvl="1">
              <a:defRPr sz="1600"/>
            </a:pPr>
            <a:r>
              <a:t>• Navigate directly to TestRigor test editor</a:t>
            </a:r>
          </a:p>
          <a:p>
            <a:pPr lvl="1">
              <a:defRPr sz="1600"/>
            </a:pPr>
            <a:r>
              <a:t>• Seamless workflow from analysis to fixing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Rerun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latin typeface="Courier New"/>
              </a:defRPr>
            </a:pPr>
          </a:p>
          <a:p>
            <a:pPr>
              <a:defRPr sz="900">
                <a:latin typeface="Courier New"/>
              </a:defRPr>
            </a:pPr>
            <a:r>
              <a:t>RERUN ALL FAILED TESTS WORKFLOW</a:t>
            </a:r>
          </a:p>
          <a:p>
            <a:pPr>
              <a:defRPr sz="900">
                <a:latin typeface="Courier New"/>
              </a:defRPr>
            </a:pPr>
            <a:r>
              <a:t>━━━━━━━━━━━━━━━━━━━━━━━━━━━━━━━━</a:t>
            </a:r>
          </a:p>
          <a:p>
            <a:pPr>
              <a:defRPr sz="900">
                <a:latin typeface="Courier New"/>
              </a:defRPr>
            </a:pPr>
          </a:p>
          <a:p>
            <a:pPr>
              <a:defRPr sz="900">
                <a:latin typeface="Courier New"/>
              </a:defRPr>
            </a:pPr>
            <a:r>
              <a:t>1. Generate Report</a:t>
            </a:r>
          </a:p>
          <a:p>
            <a:pPr>
              <a:defRPr sz="900">
                <a:latin typeface="Courier New"/>
              </a:defRPr>
            </a:pPr>
            <a:r>
              <a:t>   └─► System analyzes run and identifies failures</a:t>
            </a:r>
          </a:p>
          <a:p>
            <a:pPr>
              <a:defRPr sz="900">
                <a:latin typeface="Courier New"/>
              </a:defRPr>
            </a:pPr>
            <a:r>
              <a:t>              ↓</a:t>
            </a:r>
          </a:p>
          <a:p>
            <a:pPr>
              <a:defRPr sz="900">
                <a:latin typeface="Courier New"/>
              </a:defRPr>
            </a:pPr>
            <a:r>
              <a:t>2. View Failure Summary</a:t>
            </a:r>
          </a:p>
          <a:p>
            <a:pPr>
              <a:defRPr sz="900">
                <a:latin typeface="Courier New"/>
              </a:defRPr>
            </a:pPr>
            <a:r>
              <a:t>   └─► Display: 82 out of 217 tests failed</a:t>
            </a:r>
          </a:p>
          <a:p>
            <a:pPr>
              <a:defRPr sz="900">
                <a:latin typeface="Courier New"/>
              </a:defRPr>
            </a:pPr>
            <a:r>
              <a:t>              ↓</a:t>
            </a:r>
          </a:p>
          <a:p>
            <a:pPr>
              <a:defRPr sz="900">
                <a:latin typeface="Courier New"/>
              </a:defRPr>
            </a:pPr>
            <a:r>
              <a:t>3. Click "Rerun All Failed Tests"</a:t>
            </a:r>
          </a:p>
          <a:p>
            <a:pPr>
              <a:defRPr sz="900">
                <a:latin typeface="Courier New"/>
              </a:defRPr>
            </a:pPr>
            <a:r>
              <a:t>   └─► System generates command with all failed test IDs</a:t>
            </a:r>
          </a:p>
          <a:p>
            <a:pPr>
              <a:defRPr sz="900">
                <a:latin typeface="Courier New"/>
              </a:defRPr>
            </a:pPr>
            <a:r>
              <a:t>              ↓</a:t>
            </a:r>
          </a:p>
          <a:p>
            <a:pPr>
              <a:defRPr sz="900">
                <a:latin typeface="Courier New"/>
              </a:defRPr>
            </a:pPr>
            <a:r>
              <a:t>4. Copy Rerun Command</a:t>
            </a:r>
          </a:p>
          <a:p>
            <a:pPr>
              <a:defRPr sz="900">
                <a:latin typeface="Courier New"/>
              </a:defRPr>
            </a:pPr>
            <a:r>
              <a:t>   └─► Example: rerun -tests C1234567,C1234568,C1234569...</a:t>
            </a:r>
          </a:p>
          <a:p>
            <a:pPr>
              <a:defRPr sz="900">
                <a:latin typeface="Courier New"/>
              </a:defRPr>
            </a:pPr>
            <a:r>
              <a:t>              ↓</a:t>
            </a:r>
          </a:p>
          <a:p>
            <a:pPr>
              <a:defRPr sz="900">
                <a:latin typeface="Courier New"/>
              </a:defRPr>
            </a:pPr>
            <a:r>
              <a:t>5. Execute in TestRigor</a:t>
            </a:r>
          </a:p>
          <a:p>
            <a:pPr>
              <a:defRPr sz="900">
                <a:latin typeface="Courier New"/>
              </a:defRPr>
            </a:pPr>
            <a:r>
              <a:t>   └─► Paste command to rerun all failures</a:t>
            </a:r>
          </a:p>
          <a:p>
            <a:pPr>
              <a:defRPr sz="900">
                <a:latin typeface="Courier New"/>
              </a:defRPr>
            </a:pPr>
          </a:p>
          <a:p>
            <a:pPr>
              <a:defRPr sz="900">
                <a:latin typeface="Courier New"/>
              </a:defRPr>
            </a:pPr>
            <a:r>
              <a:t>━━━━━━━━━━━━━━━━━━━━━━━━━━━━━━━━━━━━━━━━━━━━━━━━━━━━</a:t>
            </a:r>
          </a:p>
          <a:p>
            <a:pPr>
              <a:defRPr sz="900">
                <a:latin typeface="Courier New"/>
              </a:defRPr>
            </a:pPr>
          </a:p>
          <a:p>
            <a:pPr>
              <a:defRPr sz="900">
                <a:latin typeface="Courier New"/>
              </a:defRPr>
            </a:pPr>
            <a:r>
              <a:t>SELECTIVE TEST RERUN WORKFLOW</a:t>
            </a:r>
          </a:p>
          <a:p>
            <a:pPr>
              <a:defRPr sz="900">
                <a:latin typeface="Courier New"/>
              </a:defRPr>
            </a:pPr>
            <a:r>
              <a:t>━━━━━━━━━━━━━━━━━━━━━━━━━━━━━━━</a:t>
            </a:r>
          </a:p>
          <a:p>
            <a:pPr>
              <a:defRPr sz="900">
                <a:latin typeface="Courier New"/>
              </a:defRPr>
            </a:pPr>
          </a:p>
          <a:p>
            <a:pPr>
              <a:defRPr sz="900">
                <a:latin typeface="Courier New"/>
              </a:defRPr>
            </a:pPr>
            <a:r>
              <a:t>1. View Failure Details</a:t>
            </a:r>
          </a:p>
          <a:p>
            <a:pPr>
              <a:defRPr sz="900">
                <a:latin typeface="Courier New"/>
              </a:defRPr>
            </a:pPr>
            <a:r>
              <a:t>   └─► See list of all failed tests</a:t>
            </a:r>
          </a:p>
          <a:p>
            <a:pPr>
              <a:defRPr sz="900">
                <a:latin typeface="Courier New"/>
              </a:defRPr>
            </a:pPr>
            <a:r>
              <a:t>              ↓</a:t>
            </a:r>
          </a:p>
          <a:p>
            <a:pPr>
              <a:defRPr sz="900">
                <a:latin typeface="Courier New"/>
              </a:defRPr>
            </a:pPr>
            <a:r>
              <a:t>2. Select Specific Tests</a:t>
            </a:r>
          </a:p>
          <a:p>
            <a:pPr>
              <a:defRPr sz="900">
                <a:latin typeface="Courier New"/>
              </a:defRPr>
            </a:pPr>
            <a:r>
              <a:t>   └─► ☑ Test C1234567 - Login fails</a:t>
            </a:r>
          </a:p>
          <a:p>
            <a:pPr>
              <a:defRPr sz="900">
                <a:latin typeface="Courier New"/>
              </a:defRPr>
            </a:pPr>
            <a:r>
              <a:t>   └─► ☑ Test C1234570 - Checkout error</a:t>
            </a:r>
          </a:p>
          <a:p>
            <a:pPr>
              <a:defRPr sz="900">
                <a:latin typeface="Courier New"/>
              </a:defRPr>
            </a:pPr>
            <a:r>
              <a:t>   └─► ☐ Test C1234572 - Profile update (skip)</a:t>
            </a:r>
          </a:p>
          <a:p>
            <a:pPr>
              <a:defRPr sz="900">
                <a:latin typeface="Courier New"/>
              </a:defRPr>
            </a:pPr>
            <a:r>
              <a:t>              ↓</a:t>
            </a:r>
          </a:p>
          <a:p>
            <a:pPr>
              <a:defRPr sz="900">
                <a:latin typeface="Courier New"/>
              </a:defRPr>
            </a:pPr>
            <a:r>
              <a:t>3. Generate Custom Rerun Command</a:t>
            </a:r>
          </a:p>
          <a:p>
            <a:pPr>
              <a:defRPr sz="900">
                <a:latin typeface="Courier New"/>
              </a:defRPr>
            </a:pPr>
            <a:r>
              <a:t>   └─► Command includes only selected tests</a:t>
            </a:r>
          </a:p>
          <a:p>
            <a:pPr>
              <a:defRPr sz="900">
                <a:latin typeface="Courier New"/>
              </a:defRPr>
            </a:pPr>
            <a:r>
              <a:t>              ↓</a:t>
            </a:r>
          </a:p>
          <a:p>
            <a:pPr>
              <a:defRPr sz="900">
                <a:latin typeface="Courier New"/>
              </a:defRPr>
            </a:pPr>
            <a:r>
              <a:t>4. Edit Test in TestRigor (Optional)</a:t>
            </a:r>
          </a:p>
          <a:p>
            <a:pPr>
              <a:defRPr sz="900">
                <a:latin typeface="Courier New"/>
              </a:defRPr>
            </a:pPr>
            <a:r>
              <a:t>   └─► Click "Edit" link next to test</a:t>
            </a:r>
          </a:p>
          <a:p>
            <a:pPr>
              <a:defRPr sz="900">
                <a:latin typeface="Courier New"/>
              </a:defRPr>
            </a:pPr>
            <a:r>
              <a:t>   └─► Navigates to TestRigor test editor</a:t>
            </a:r>
          </a:p>
          <a:p>
            <a:pPr>
              <a:defRPr sz="900">
                <a:latin typeface="Courier New"/>
              </a:defRPr>
            </a:pPr>
            <a:r>
              <a:t>   └─► Fix test and save</a:t>
            </a:r>
          </a:p>
          <a:p>
            <a:pPr>
              <a:defRPr sz="900">
                <a:latin typeface="Courier New"/>
              </a:defRPr>
            </a:pPr>
            <a:r>
              <a:t>              ↓</a:t>
            </a:r>
          </a:p>
          <a:p>
            <a:pPr>
              <a:defRPr sz="900">
                <a:latin typeface="Courier New"/>
              </a:defRPr>
            </a:pPr>
            <a:r>
              <a:t>5. Execute Selective Rerun</a:t>
            </a:r>
          </a:p>
          <a:p>
            <a:pPr>
              <a:defRPr sz="900">
                <a:latin typeface="Courier New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 - Compare 7 Runs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Multi-Run Comparison Feature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Compare up to 7 test runs simultaneously</a:t>
            </a:r>
          </a:p>
          <a:p>
            <a:pPr>
              <a:defRPr sz="1800"/>
            </a:pPr>
            <a:r>
              <a:t>• Side-by-side statistics (Total/Passed/Failed/RTR)</a:t>
            </a:r>
          </a:p>
          <a:p>
            <a:pPr>
              <a:defRPr sz="1800"/>
            </a:pPr>
            <a:r>
              <a:t>• Detailed comparison table with test-by-test results</a:t>
            </a:r>
          </a:p>
          <a:p>
            <a:pPr>
              <a:defRPr sz="1800"/>
            </a:pPr>
            <a:r>
              <a:t>• Column-specific search functionality</a:t>
            </a:r>
          </a:p>
          <a:p>
            <a:pPr>
              <a:defRPr sz="1800"/>
            </a:pPr>
            <a:r>
              <a:t>• Valid Fail override capability</a:t>
            </a:r>
          </a:p>
          <a:p>
            <a:pPr>
              <a:defRPr sz="1800"/>
            </a:pPr>
            <a:r>
              <a:t>• RTR recalculation with custom valid fails</a:t>
            </a:r>
          </a:p>
          <a:p>
            <a:pPr>
              <a:defRPr sz="1800"/>
            </a:pPr>
            <a:r>
              <a:t>• Excel export with multiple sheets</a:t>
            </a:r>
          </a:p>
          <a:p>
            <a:pPr>
              <a:defRPr sz="1800"/>
            </a:pPr>
            <a:r>
              <a:t>• Adaptive UI (Grid layout ≤3 runs, Horizontal scroll 4-7 runs)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Data Flow - Compare Runs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latin typeface="Courier New"/>
              </a:defRPr>
            </a:pPr>
          </a:p>
          <a:p>
            <a:pPr>
              <a:defRPr sz="900">
                <a:latin typeface="Courier New"/>
              </a:defRPr>
            </a:pPr>
            <a:r>
              <a:t>1. User enters 1-7 Run IDs + selects suite</a:t>
            </a:r>
          </a:p>
          <a:p>
            <a:pPr>
              <a:defRPr sz="900">
                <a:latin typeface="Courier New"/>
              </a:defRPr>
            </a:pPr>
            <a:r>
              <a:t>              ↓</a:t>
            </a:r>
          </a:p>
          <a:p>
            <a:pPr>
              <a:defRPr sz="900">
                <a:latin typeface="Courier New"/>
              </a:defRPr>
            </a:pPr>
            <a:r>
              <a:t>2. Frontend validates input (no duplicates)</a:t>
            </a:r>
          </a:p>
          <a:p>
            <a:pPr>
              <a:defRPr sz="900">
                <a:latin typeface="Courier New"/>
              </a:defRPr>
            </a:pPr>
            <a:r>
              <a:t>              ↓</a:t>
            </a:r>
          </a:p>
          <a:p>
            <a:pPr>
              <a:defRPr sz="900">
                <a:latin typeface="Courier New"/>
              </a:defRPr>
            </a:pPr>
            <a:r>
              <a:t>3. AJAX POST to /api/compare-runs</a:t>
            </a:r>
          </a:p>
          <a:p>
            <a:pPr>
              <a:defRPr sz="900">
                <a:latin typeface="Courier New"/>
              </a:defRPr>
            </a:pPr>
            <a:r>
              <a:t>              ↓</a:t>
            </a:r>
          </a:p>
          <a:p>
            <a:pPr>
              <a:defRPr sz="900">
                <a:latin typeface="Courier New"/>
              </a:defRPr>
            </a:pPr>
            <a:r>
              <a:t>4. Backend fetches data in parallel:</a:t>
            </a:r>
          </a:p>
          <a:p>
            <a:pPr>
              <a:defRPr sz="900">
                <a:latin typeface="Courier New"/>
              </a:defRPr>
            </a:pPr>
            <a:r>
              <a:t>   • Run metadata (name, date, status)</a:t>
            </a:r>
          </a:p>
          <a:p>
            <a:pPr>
              <a:defRPr sz="900">
                <a:latin typeface="Courier New"/>
              </a:defRPr>
            </a:pPr>
            <a:r>
              <a:t>   • Test cases</a:t>
            </a:r>
          </a:p>
          <a:p>
            <a:pPr>
              <a:defRPr sz="900">
                <a:latin typeface="Courier New"/>
              </a:defRPr>
            </a:pPr>
            <a:r>
              <a:t>   • Test results (passed/failed/skipped)</a:t>
            </a:r>
          </a:p>
          <a:p>
            <a:pPr>
              <a:defRPr sz="900">
                <a:latin typeface="Courier New"/>
              </a:defRPr>
            </a:pPr>
            <a:r>
              <a:t>              ↓</a:t>
            </a:r>
          </a:p>
          <a:p>
            <a:pPr>
              <a:defRPr sz="900">
                <a:latin typeface="Courier New"/>
              </a:defRPr>
            </a:pPr>
            <a:r>
              <a:t>5. Backend processes and normalizes data:</a:t>
            </a:r>
          </a:p>
          <a:p>
            <a:pPr>
              <a:defRPr sz="900">
                <a:latin typeface="Courier New"/>
              </a:defRPr>
            </a:pPr>
            <a:r>
              <a:t>   • Extract Test Case IDs (C###### format)</a:t>
            </a:r>
          </a:p>
          <a:p>
            <a:pPr>
              <a:defRPr sz="900">
                <a:latin typeface="Courier New"/>
              </a:defRPr>
            </a:pPr>
            <a:r>
              <a:t>   • Map test names to results</a:t>
            </a:r>
          </a:p>
          <a:p>
            <a:pPr>
              <a:defRPr sz="900">
                <a:latin typeface="Courier New"/>
              </a:defRPr>
            </a:pPr>
            <a:r>
              <a:t>   • Calculate statistics per run</a:t>
            </a:r>
          </a:p>
          <a:p>
            <a:pPr>
              <a:defRPr sz="900">
                <a:latin typeface="Courier New"/>
              </a:defRPr>
            </a:pPr>
            <a:r>
              <a:t>              ↓</a:t>
            </a:r>
          </a:p>
          <a:p>
            <a:pPr>
              <a:defRPr sz="900">
                <a:latin typeface="Courier New"/>
              </a:defRPr>
            </a:pPr>
            <a:r>
              <a:t>6. Return JSON with 7 run datasets</a:t>
            </a:r>
          </a:p>
          <a:p>
            <a:pPr>
              <a:defRPr sz="900">
                <a:latin typeface="Courier New"/>
              </a:defRPr>
            </a:pPr>
            <a:r>
              <a:t>              ↓</a:t>
            </a:r>
          </a:p>
          <a:p>
            <a:pPr>
              <a:defRPr sz="900">
                <a:latin typeface="Courier New"/>
              </a:defRPr>
            </a:pPr>
            <a:r>
              <a:t>7. Frontend displays:</a:t>
            </a:r>
          </a:p>
          <a:p>
            <a:pPr>
              <a:defRPr sz="900">
                <a:latin typeface="Courier New"/>
              </a:defRPr>
            </a:pPr>
            <a:r>
              <a:t>   • Comparison cards (overall stats)</a:t>
            </a:r>
          </a:p>
          <a:p>
            <a:pPr>
              <a:defRPr sz="900">
                <a:latin typeface="Courier New"/>
              </a:defRPr>
            </a:pPr>
            <a:r>
              <a:t>   • Detailed table (test-by-test)</a:t>
            </a:r>
          </a:p>
          <a:p>
            <a:pPr>
              <a:defRPr sz="900">
                <a:latin typeface="Courier New"/>
              </a:defRPr>
            </a:pPr>
            <a:r>
              <a:t>   • Search functionality</a:t>
            </a:r>
          </a:p>
          <a:p>
            <a:pPr>
              <a:defRPr sz="900">
                <a:latin typeface="Courier New"/>
              </a:defRPr>
            </a:pPr>
            <a:r>
              <a:t>   • Excel download option</a:t>
            </a:r>
          </a:p>
          <a:p>
            <a:pPr>
              <a:defRPr sz="900">
                <a:latin typeface="Courier New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RTR Calculation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latin typeface="Courier New"/>
              </a:defRPr>
            </a:pPr>
          </a:p>
          <a:p>
            <a:pPr>
              <a:defRPr sz="900">
                <a:latin typeface="Courier New"/>
              </a:defRPr>
            </a:pPr>
            <a:r>
              <a:t>Run-Through Rate (RTR)</a:t>
            </a:r>
          </a:p>
          <a:p>
            <a:pPr>
              <a:defRPr sz="900">
                <a:latin typeface="Courier New"/>
              </a:defRPr>
            </a:pPr>
            <a:r>
              <a:t>━━━━━━━━━━━━━━━━━━━━━━━━</a:t>
            </a:r>
          </a:p>
          <a:p>
            <a:pPr>
              <a:defRPr sz="900">
                <a:latin typeface="Courier New"/>
              </a:defRPr>
            </a:pPr>
          </a:p>
          <a:p>
            <a:pPr>
              <a:defRPr sz="900">
                <a:latin typeface="Courier New"/>
              </a:defRPr>
            </a:pPr>
            <a:r>
              <a:t>INDIVIDUAL RUN RTR:</a:t>
            </a:r>
          </a:p>
          <a:p>
            <a:pPr>
              <a:defRPr sz="900">
                <a:latin typeface="Courier New"/>
              </a:defRPr>
            </a:pPr>
          </a:p>
          <a:p>
            <a:pPr>
              <a:defRPr sz="900">
                <a:latin typeface="Courier New"/>
              </a:defRPr>
            </a:pPr>
            <a:r>
              <a:t>  RTR = ((Passed + Valid Fail) / Total) × 100</a:t>
            </a:r>
          </a:p>
          <a:p>
            <a:pPr>
              <a:defRPr sz="900">
                <a:latin typeface="Courier New"/>
              </a:defRPr>
            </a:pPr>
          </a:p>
          <a:p>
            <a:pPr>
              <a:defRPr sz="900">
                <a:latin typeface="Courier New"/>
              </a:defRPr>
            </a:pPr>
            <a:r>
              <a:t>Components:</a:t>
            </a:r>
          </a:p>
          <a:p>
            <a:pPr>
              <a:defRPr sz="900">
                <a:latin typeface="Courier New"/>
              </a:defRPr>
            </a:pPr>
            <a:r>
              <a:t>  • Passed Tests  = Tests with status "passed"</a:t>
            </a:r>
          </a:p>
          <a:p>
            <a:pPr>
              <a:defRPr sz="900">
                <a:latin typeface="Courier New"/>
              </a:defRPr>
            </a:pPr>
            <a:r>
              <a:t>  • Valid Fail    = Expected failures (user-defined)</a:t>
            </a:r>
          </a:p>
          <a:p>
            <a:pPr>
              <a:defRPr sz="900">
                <a:latin typeface="Courier New"/>
              </a:defRPr>
            </a:pPr>
            <a:r>
              <a:t>  • Total Tests   = All test cases executed</a:t>
            </a:r>
          </a:p>
          <a:p>
            <a:pPr>
              <a:defRPr sz="900">
                <a:latin typeface="Courier New"/>
              </a:defRPr>
            </a:pPr>
            <a:r>
              <a:t>  • Failed Tests  = Total - Passed - Valid Fail</a:t>
            </a:r>
          </a:p>
          <a:p>
            <a:pPr>
              <a:defRPr sz="900">
                <a:latin typeface="Courier New"/>
              </a:defRPr>
            </a:pPr>
          </a:p>
          <a:p>
            <a:pPr>
              <a:defRPr sz="900">
                <a:latin typeface="Courier New"/>
              </a:defRPr>
            </a:pPr>
            <a:r>
              <a:t>Example:</a:t>
            </a:r>
          </a:p>
          <a:p>
            <a:pPr>
              <a:defRPr sz="900">
                <a:latin typeface="Courier New"/>
              </a:defRPr>
            </a:pPr>
            <a:r>
              <a:t>  Total:      217</a:t>
            </a:r>
          </a:p>
          <a:p>
            <a:pPr>
              <a:defRPr sz="900">
                <a:latin typeface="Courier New"/>
              </a:defRPr>
            </a:pPr>
            <a:r>
              <a:t>  Passed:     135</a:t>
            </a:r>
          </a:p>
          <a:p>
            <a:pPr>
              <a:defRPr sz="900">
                <a:latin typeface="Courier New"/>
              </a:defRPr>
            </a:pPr>
            <a:r>
              <a:t>  Valid Fail: 10</a:t>
            </a:r>
          </a:p>
          <a:p>
            <a:pPr>
              <a:defRPr sz="900">
                <a:latin typeface="Courier New"/>
              </a:defRPr>
            </a:pPr>
            <a:r>
              <a:t>  Failed:     72</a:t>
            </a:r>
          </a:p>
          <a:p>
            <a:pPr>
              <a:defRPr sz="900">
                <a:latin typeface="Courier New"/>
              </a:defRPr>
            </a:pPr>
            <a:r>
              <a:t>  </a:t>
            </a:r>
          </a:p>
          <a:p>
            <a:pPr>
              <a:defRPr sz="900">
                <a:latin typeface="Courier New"/>
              </a:defRPr>
            </a:pPr>
            <a:r>
              <a:t>  RTR = ((135 + 10) / 217) × 100 = 66.8%</a:t>
            </a:r>
          </a:p>
          <a:p>
            <a:pPr>
              <a:defRPr sz="900">
                <a:latin typeface="Courier New"/>
              </a:defRPr>
            </a:pPr>
          </a:p>
          <a:p>
            <a:pPr>
              <a:defRPr sz="900">
                <a:latin typeface="Courier New"/>
              </a:defRPr>
            </a:pPr>
            <a:r>
              <a:t>━━━━━━━━━━━━━━━━━━━━━━━━━━━━━━━━━━━━━━━━━━━</a:t>
            </a:r>
          </a:p>
          <a:p>
            <a:pPr>
              <a:defRPr sz="900">
                <a:latin typeface="Courier New"/>
              </a:defRPr>
            </a:pPr>
          </a:p>
          <a:p>
            <a:pPr>
              <a:defRPr sz="900">
                <a:latin typeface="Courier New"/>
              </a:defRPr>
            </a:pPr>
            <a:r>
              <a:t>CUMULATIVE RTR (Multiple Test Types):</a:t>
            </a:r>
          </a:p>
          <a:p>
            <a:pPr>
              <a:defRPr sz="900">
                <a:latin typeface="Courier New"/>
              </a:defRPr>
            </a:pPr>
          </a:p>
          <a:p>
            <a:pPr>
              <a:defRPr sz="900">
                <a:latin typeface="Courier New"/>
              </a:defRPr>
            </a:pPr>
            <a:r>
              <a:t>  RTR = ((Total Passed + Total Valid) / </a:t>
            </a:r>
          </a:p>
          <a:p>
            <a:pPr>
              <a:defRPr sz="900">
                <a:latin typeface="Courier New"/>
              </a:defRPr>
            </a:pPr>
            <a:r>
              <a:t>         Total Tests) × 100</a:t>
            </a:r>
          </a:p>
          <a:p>
            <a:pPr>
              <a:defRPr sz="900">
                <a:latin typeface="Courier New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Design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1. Multi-Suite Architecture</a:t>
            </a:r>
          </a:p>
          <a:p>
            <a:pPr lvl="1">
              <a:defRPr sz="1600"/>
            </a:pPr>
            <a:r>
              <a:t>Configuration-driven suite selection</a:t>
            </a:r>
          </a:p>
          <a:p>
            <a:pPr lvl="1">
              <a:defRPr sz="1600"/>
            </a:pPr>
            <a:r>
              <a:t>Per-suite authentication</a:t>
            </a:r>
          </a:p>
          <a:p>
            <a:pPr>
              <a:defRPr sz="1800"/>
            </a:pPr>
          </a:p>
          <a:p>
            <a:pPr>
              <a:defRPr sz="2200"/>
            </a:pPr>
            <a:r>
              <a:t>2. Progressive Enhancement</a:t>
            </a:r>
          </a:p>
          <a:p>
            <a:pPr lvl="1">
              <a:defRPr sz="1600"/>
            </a:pPr>
            <a:r>
              <a:t>Works with 1 run, scales to 7</a:t>
            </a:r>
          </a:p>
          <a:p>
            <a:pPr lvl="1">
              <a:defRPr sz="1600"/>
            </a:pPr>
            <a:r>
              <a:t>Adaptive UI based on data</a:t>
            </a:r>
          </a:p>
          <a:p>
            <a:pPr>
              <a:defRPr sz="1800"/>
            </a:pPr>
          </a:p>
          <a:p>
            <a:pPr>
              <a:defRPr sz="2200"/>
            </a:pPr>
            <a:r>
              <a:t>3. Parallel Processing</a:t>
            </a:r>
          </a:p>
          <a:p>
            <a:pPr lvl="1">
              <a:defRPr sz="1600"/>
            </a:pPr>
            <a:r>
              <a:t>ThreadPoolExecutor for concurrent API calls</a:t>
            </a:r>
          </a:p>
          <a:p>
            <a:pPr lvl="1">
              <a:defRPr sz="1600"/>
            </a:pPr>
            <a:r>
              <a:t>7x faster than sequential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Excel Report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latin typeface="Courier New"/>
              </a:defRPr>
            </a:pPr>
          </a:p>
          <a:p>
            <a:pPr>
              <a:defRPr sz="900">
                <a:latin typeface="Courier New"/>
              </a:defRPr>
            </a:pPr>
            <a:r>
              <a:t>SHEET 1: Overall Summary</a:t>
            </a:r>
          </a:p>
          <a:p>
            <a:pPr>
              <a:defRPr sz="900">
                <a:latin typeface="Courier New"/>
              </a:defRPr>
            </a:pPr>
            <a:r>
              <a:t>┌─────────┬──────────┬───────┬────────┬────────┬───────┬──────┐</a:t>
            </a:r>
          </a:p>
          <a:p>
            <a:pPr>
              <a:defRPr sz="900">
                <a:latin typeface="Courier New"/>
              </a:defRPr>
            </a:pPr>
            <a:r>
              <a:t>│ Run ID  │ Run Name │ Total │ Passed │ Failed │ Valid │ RTR  │</a:t>
            </a:r>
          </a:p>
          <a:p>
            <a:pPr>
              <a:defRPr sz="900">
                <a:latin typeface="Courier New"/>
              </a:defRPr>
            </a:pPr>
            <a:r>
              <a:t>├─────────┼──────────┼───────┼────────┼────────┼───────┼──────┤</a:t>
            </a:r>
          </a:p>
          <a:p>
            <a:pPr>
              <a:defRPr sz="900">
                <a:latin typeface="Courier New"/>
              </a:defRPr>
            </a:pPr>
            <a:r>
              <a:t>│ RUN001  │ Baseline │  217  │  135   │   82   │   0   │ 62%  │</a:t>
            </a:r>
          </a:p>
          <a:p>
            <a:pPr>
              <a:defRPr sz="900">
                <a:latin typeface="Courier New"/>
              </a:defRPr>
            </a:pPr>
            <a:r>
              <a:t>│ RUN002  │ Retest 1 │  217  │  130   │   87   │   0   │ 60%  │</a:t>
            </a:r>
          </a:p>
          <a:p>
            <a:pPr>
              <a:defRPr sz="900">
                <a:latin typeface="Courier New"/>
              </a:defRPr>
            </a:pPr>
            <a:r>
              <a:t>│ RUN003  │ Retest 2 │  254  │   9    │  245   │   0   │  4%  │</a:t>
            </a:r>
          </a:p>
          <a:p>
            <a:pPr>
              <a:defRPr sz="900">
                <a:latin typeface="Courier New"/>
              </a:defRPr>
            </a:pPr>
            <a:r>
              <a:t>└─────────┴──────────┴───────┴────────┴────────┴───────┴──────┘</a:t>
            </a:r>
          </a:p>
          <a:p>
            <a:pPr>
              <a:defRPr sz="900">
                <a:latin typeface="Courier New"/>
              </a:defRPr>
            </a:pPr>
          </a:p>
          <a:p>
            <a:pPr>
              <a:defRPr sz="900">
                <a:latin typeface="Courier New"/>
              </a:defRPr>
            </a:pPr>
            <a:r>
              <a:t>SHEET 2: Detailed Summary</a:t>
            </a:r>
          </a:p>
          <a:p>
            <a:pPr>
              <a:defRPr sz="900">
                <a:latin typeface="Courier New"/>
              </a:defRPr>
            </a:pPr>
            <a:r>
              <a:t>┌──────────┬───────────────┬────────┬────────┬────────┐</a:t>
            </a:r>
          </a:p>
          <a:p>
            <a:pPr>
              <a:defRPr sz="900">
                <a:latin typeface="Courier New"/>
              </a:defRPr>
            </a:pPr>
            <a:r>
              <a:t>│ Test ID  │ Test Name     │ Run 1  │ Run 2  │ Run 3  │</a:t>
            </a:r>
          </a:p>
          <a:p>
            <a:pPr>
              <a:defRPr sz="900">
                <a:latin typeface="Courier New"/>
              </a:defRPr>
            </a:pPr>
            <a:r>
              <a:t>├──────────┼───────────────┼────────┼────────┼────────┤</a:t>
            </a:r>
          </a:p>
          <a:p>
            <a:pPr>
              <a:defRPr sz="900">
                <a:latin typeface="Courier New"/>
              </a:defRPr>
            </a:pPr>
            <a:r>
              <a:t>│ C102757  │ Edit Sec...   │ Failed │ Failed │Not Run │</a:t>
            </a:r>
          </a:p>
          <a:p>
            <a:pPr>
              <a:defRPr sz="900">
                <a:latin typeface="Courier New"/>
              </a:defRPr>
            </a:pPr>
            <a:r>
              <a:t>│ C314006  │ Create PR...  │ Failed │ Failed │Not Run │</a:t>
            </a:r>
          </a:p>
          <a:p>
            <a:pPr>
              <a:defRPr sz="900">
                <a:latin typeface="Courier New"/>
              </a:defRPr>
            </a:pPr>
            <a:r>
              <a:t>│ C314008  │ Edit assign.. │ Passed │ Passed │Not Run │</a:t>
            </a:r>
          </a:p>
          <a:p>
            <a:pPr>
              <a:defRPr sz="900">
                <a:latin typeface="Courier New"/>
              </a:defRPr>
            </a:pPr>
            <a:r>
              <a:t>└──────────┴───────────────┴────────┴────────┴────────┘</a:t>
            </a:r>
          </a:p>
          <a:p>
            <a:pPr>
              <a:defRPr sz="900">
                <a:latin typeface="Courier New"/>
              </a:defRPr>
            </a:pPr>
          </a:p>
          <a:p>
            <a:pPr>
              <a:defRPr sz="900">
                <a:latin typeface="Courier New"/>
              </a:defRPr>
            </a:pPr>
            <a:r>
              <a:t>✓ Color coding: Green=Passed, Red=Failed, Gray=Not Run</a:t>
            </a:r>
          </a:p>
          <a:p>
            <a:pPr>
              <a:defRPr sz="900">
                <a:latin typeface="Courier New"/>
              </a:defRPr>
            </a:pPr>
            <a:r>
              <a:t>✓ Dynamic columns (1-7 runs)</a:t>
            </a:r>
          </a:p>
          <a:p>
            <a:pPr>
              <a:defRPr sz="900">
                <a:latin typeface="Courier New"/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Configuration Management</a:t>
            </a:r>
          </a:p>
          <a:p>
            <a:pPr lvl="1">
              <a:defRPr sz="1600"/>
            </a:pPr>
            <a:r>
              <a:t>config.json stores API keys (not in version control)</a:t>
            </a:r>
          </a:p>
          <a:p>
            <a:pPr lvl="1">
              <a:defRPr sz="1600"/>
            </a:pPr>
            <a:r>
              <a:t>Per-suite authentication tokens</a:t>
            </a:r>
          </a:p>
          <a:p>
            <a:pPr>
              <a:defRPr sz="1800"/>
            </a:pPr>
          </a:p>
          <a:p>
            <a:pPr>
              <a:defRPr sz="2400"/>
            </a:pPr>
            <a:r>
              <a:t>Security Measures</a:t>
            </a:r>
          </a:p>
          <a:p>
            <a:pPr lvl="1">
              <a:defRPr sz="1600"/>
            </a:pPr>
            <a:r>
              <a:t>CORS enabled for localhost only</a:t>
            </a:r>
          </a:p>
          <a:p>
            <a:pPr lvl="1">
              <a:defRPr sz="1600"/>
            </a:pPr>
            <a:r>
              <a:t>Input validation on client and server</a:t>
            </a:r>
          </a:p>
          <a:p>
            <a:pPr lvl="1">
              <a:defRPr sz="1600"/>
            </a:pPr>
            <a:r>
              <a:t>Error handling prevents token exposure</a:t>
            </a:r>
          </a:p>
          <a:p>
            <a:pPr lvl="1">
              <a:defRPr sz="1600"/>
            </a:pPr>
            <a:r>
              <a:t>HTTPS communication with TestRigor API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Optimizations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Concurrent Processing</a:t>
            </a:r>
          </a:p>
          <a:p>
            <a:pPr lvl="1">
              <a:defRPr sz="1600"/>
            </a:pPr>
            <a:r>
              <a:t>ThreadPoolExecutor with 10 workers</a:t>
            </a:r>
          </a:p>
          <a:p>
            <a:pPr lvl="1">
              <a:defRPr sz="1600"/>
            </a:pPr>
            <a:r>
              <a:t>Parallel API calls: 7x faster for 7 runs</a:t>
            </a:r>
          </a:p>
          <a:p>
            <a:pPr>
              <a:defRPr sz="1800"/>
            </a:pPr>
          </a:p>
          <a:p>
            <a:pPr>
              <a:defRPr sz="2400"/>
            </a:pPr>
            <a:r>
              <a:t>Frontend Optimizations</a:t>
            </a:r>
          </a:p>
          <a:p>
            <a:pPr lvl="1">
              <a:defRPr sz="1600"/>
            </a:pPr>
            <a:r>
              <a:t>Client-side filtering (no server round-trip)</a:t>
            </a:r>
          </a:p>
          <a:p>
            <a:pPr lvl="1">
              <a:defRPr sz="1600"/>
            </a:pPr>
            <a:r>
              <a:t>Lazy rendering (only visible elements)</a:t>
            </a:r>
          </a:p>
          <a:p>
            <a:pPr lvl="1">
              <a:defRPr sz="1600"/>
            </a:pPr>
            <a:r>
              <a:t>Adaptive layout (grid vs horizontal scroll)</a:t>
            </a:r>
          </a:p>
          <a:p>
            <a:pPr lvl="1">
              <a:defRPr sz="1600"/>
            </a:pPr>
            <a:r>
              <a:t>Column-specific search handles 1000+ rows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File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latin typeface="Courier New"/>
              </a:defRPr>
            </a:pPr>
          </a:p>
          <a:p>
            <a:pPr>
              <a:defRPr sz="900">
                <a:latin typeface="Courier New"/>
              </a:defRPr>
            </a:pPr>
            <a:r>
              <a:t>TR Result Analyzer &amp; Rerunner/</a:t>
            </a:r>
          </a:p>
          <a:p>
            <a:pPr>
              <a:defRPr sz="900">
                <a:latin typeface="Courier New"/>
              </a:defRPr>
            </a:pPr>
            <a:r>
              <a:t>│</a:t>
            </a:r>
          </a:p>
          <a:p>
            <a:pPr>
              <a:defRPr sz="900">
                <a:latin typeface="Courier New"/>
              </a:defRPr>
            </a:pPr>
            <a:r>
              <a:t>├── app.py                      # Flask app (1136 lines)</a:t>
            </a:r>
          </a:p>
          <a:p>
            <a:pPr>
              <a:defRPr sz="900">
                <a:latin typeface="Courier New"/>
              </a:defRPr>
            </a:pPr>
            <a:r>
              <a:t>│   └── REST API endpoints</a:t>
            </a:r>
          </a:p>
          <a:p>
            <a:pPr>
              <a:defRPr sz="900">
                <a:latin typeface="Courier New"/>
              </a:defRPr>
            </a:pPr>
            <a:r>
              <a:t>│</a:t>
            </a:r>
          </a:p>
          <a:p>
            <a:pPr>
              <a:defRPr sz="900">
                <a:latin typeface="Courier New"/>
              </a:defRPr>
            </a:pPr>
            <a:r>
              <a:t>├── report_generator.py         # Excel generation</a:t>
            </a:r>
          </a:p>
          <a:p>
            <a:pPr>
              <a:defRPr sz="900">
                <a:latin typeface="Courier New"/>
              </a:defRPr>
            </a:pPr>
            <a:r>
              <a:t>│   └── ReportGenerator class</a:t>
            </a:r>
          </a:p>
          <a:p>
            <a:pPr>
              <a:defRPr sz="900">
                <a:latin typeface="Courier New"/>
              </a:defRPr>
            </a:pPr>
            <a:r>
              <a:t>│</a:t>
            </a:r>
          </a:p>
          <a:p>
            <a:pPr>
              <a:defRPr sz="900">
                <a:latin typeface="Courier New"/>
              </a:defRPr>
            </a:pPr>
            <a:r>
              <a:t>├── config.json                 # 16+ suite configs</a:t>
            </a:r>
          </a:p>
          <a:p>
            <a:pPr>
              <a:defRPr sz="900">
                <a:latin typeface="Courier New"/>
              </a:defRPr>
            </a:pPr>
            <a:r>
              <a:t>│   └── API keys &amp; base URLs</a:t>
            </a:r>
          </a:p>
          <a:p>
            <a:pPr>
              <a:defRPr sz="900">
                <a:latin typeface="Courier New"/>
              </a:defRPr>
            </a:pPr>
            <a:r>
              <a:t>│</a:t>
            </a:r>
          </a:p>
          <a:p>
            <a:pPr>
              <a:defRPr sz="900">
                <a:latin typeface="Courier New"/>
              </a:defRPr>
            </a:pPr>
            <a:r>
              <a:t>├── requirements.txt            # Python dependencies</a:t>
            </a:r>
          </a:p>
          <a:p>
            <a:pPr>
              <a:defRPr sz="900">
                <a:latin typeface="Courier New"/>
              </a:defRPr>
            </a:pPr>
            <a:r>
              <a:t>│</a:t>
            </a:r>
          </a:p>
          <a:p>
            <a:pPr>
              <a:defRPr sz="900">
                <a:latin typeface="Courier New"/>
              </a:defRPr>
            </a:pPr>
            <a:r>
              <a:t>├── templates/</a:t>
            </a:r>
          </a:p>
          <a:p>
            <a:pPr>
              <a:defRPr sz="900">
                <a:latin typeface="Courier New"/>
              </a:defRPr>
            </a:pPr>
            <a:r>
              <a:t>│   └── index.html              # SPA frontend (3287 lines)</a:t>
            </a:r>
          </a:p>
          <a:p>
            <a:pPr>
              <a:defRPr sz="900">
                <a:latin typeface="Courier New"/>
              </a:defRPr>
            </a:pPr>
            <a:r>
              <a:t>│       ├── Tab 1: Generate Report</a:t>
            </a:r>
          </a:p>
          <a:p>
            <a:pPr>
              <a:defRPr sz="900">
                <a:latin typeface="Courier New"/>
              </a:defRPr>
            </a:pPr>
            <a:r>
              <a:t>│       ├── Tab 2: Compare Runs ⭐</a:t>
            </a:r>
          </a:p>
          <a:p>
            <a:pPr>
              <a:defRPr sz="900">
                <a:latin typeface="Courier New"/>
              </a:defRPr>
            </a:pPr>
            <a:r>
              <a:t>│       └── Tab 3: Cumulative RTR</a:t>
            </a:r>
          </a:p>
          <a:p>
            <a:pPr>
              <a:defRPr sz="900">
                <a:latin typeface="Courier New"/>
              </a:defRPr>
            </a:pPr>
            <a:r>
              <a:t>│</a:t>
            </a:r>
          </a:p>
          <a:p>
            <a:pPr>
              <a:defRPr sz="900">
                <a:latin typeface="Courier New"/>
              </a:defRPr>
            </a:pPr>
            <a:r>
              <a:t>└── reports/                    # Generated Excel files</a:t>
            </a:r>
          </a:p>
          <a:p>
            <a:pPr>
              <a:defRPr sz="900">
                <a:latin typeface="Courier New"/>
              </a:defRPr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Local Development Setup</a:t>
            </a:r>
          </a:p>
          <a:p>
            <a:pPr lvl="1">
              <a:defRPr sz="1600"/>
            </a:pPr>
            <a:r>
              <a:t>1. Install Python 3.8+</a:t>
            </a:r>
          </a:p>
          <a:p>
            <a:pPr lvl="1">
              <a:defRPr sz="1600"/>
            </a:pPr>
            <a:r>
              <a:t>2. pip install -r requirements.txt</a:t>
            </a:r>
          </a:p>
          <a:p>
            <a:pPr lvl="1">
              <a:defRPr sz="1600"/>
            </a:pPr>
            <a:r>
              <a:t>3. Configure config.json with API keys</a:t>
            </a:r>
          </a:p>
          <a:p>
            <a:pPr lvl="1">
              <a:defRPr sz="1600"/>
            </a:pPr>
            <a:r>
              <a:t>4. python app.py OR Launch_TR_Reporter.bat</a:t>
            </a:r>
          </a:p>
          <a:p>
            <a:pPr lvl="1">
              <a:defRPr sz="1600"/>
            </a:pPr>
            <a:r>
              <a:t>5. Open http://localhost:5000</a:t>
            </a:r>
          </a:p>
          <a:p>
            <a:pPr>
              <a:defRPr sz="1800"/>
            </a:pPr>
          </a:p>
          <a:p>
            <a:pPr>
              <a:defRPr sz="2400"/>
            </a:pPr>
            <a:r>
              <a:t>Production Considerations</a:t>
            </a:r>
          </a:p>
          <a:p>
            <a:pPr lvl="1">
              <a:defRPr sz="1600"/>
            </a:pPr>
            <a:r>
              <a:t>Replace Flask with Gunicorn/uWSGI</a:t>
            </a:r>
          </a:p>
          <a:p>
            <a:pPr lvl="1">
              <a:defRPr sz="1600"/>
            </a:pPr>
            <a:r>
              <a:t>Add Nginx reverse proxy</a:t>
            </a:r>
          </a:p>
          <a:p>
            <a:pPr lvl="1">
              <a:defRPr sz="1600"/>
            </a:pPr>
            <a:r>
              <a:t>Implement authentication (OAuth/LDAP)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✅ Intelligent Rerun - Rerun all failed or selective tests</a:t>
            </a:r>
          </a:p>
          <a:p>
            <a:pPr>
              <a:defRPr sz="1600"/>
            </a:pPr>
            <a:r>
              <a:t>✅ Direct TestRigor Links - Edit test cases with one click</a:t>
            </a:r>
          </a:p>
          <a:p>
            <a:pPr>
              <a:defRPr sz="1600"/>
            </a:pPr>
            <a:r>
              <a:t>✅ Multi-Run Comparison - Compare up to 7 runs side-by-side</a:t>
            </a:r>
          </a:p>
          <a:p>
            <a:pPr>
              <a:defRPr sz="1600"/>
            </a:pPr>
            <a:r>
              <a:t>✅ Adaptive UI - Responsive layout adjusts automatically</a:t>
            </a:r>
          </a:p>
          <a:p>
            <a:pPr>
              <a:defRPr sz="1600"/>
            </a:pPr>
            <a:r>
              <a:t>✅ Advanced Filtering - Column-specific search</a:t>
            </a:r>
          </a:p>
          <a:p>
            <a:pPr>
              <a:defRPr sz="1600"/>
            </a:pPr>
            <a:r>
              <a:t>✅ RTR Calculation - Automatic + manual override</a:t>
            </a:r>
          </a:p>
          <a:p>
            <a:pPr>
              <a:defRPr sz="1600"/>
            </a:pPr>
            <a:r>
              <a:t>✅ Excel Export - Professional multi-sheet reports</a:t>
            </a:r>
          </a:p>
          <a:p>
            <a:pPr>
              <a:defRPr sz="1600"/>
            </a:pPr>
            <a:r>
              <a:t>✅ Real-Time Validation - Duplicate detection</a:t>
            </a:r>
          </a:p>
          <a:p>
            <a:pPr>
              <a:defRPr sz="1600"/>
            </a:pPr>
            <a:r>
              <a:t>✅ Multi-Suite Support - 16+ TestRigor environments</a:t>
            </a:r>
          </a:p>
          <a:p>
            <a:pPr>
              <a:defRPr sz="1600"/>
            </a:pPr>
            <a:r>
              <a:t>✅ Parallel Processing - Concurrent API calls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Quick Failure Recovery</a:t>
            </a:r>
          </a:p>
          <a:p>
            <a:pPr lvl="1">
              <a:defRPr sz="1600"/>
            </a:pPr>
            <a:r>
              <a:t>Rerun all failed tests immediately after fixing issues</a:t>
            </a:r>
          </a:p>
          <a:p>
            <a:pPr>
              <a:defRPr sz="1800"/>
            </a:pPr>
          </a:p>
          <a:p>
            <a:pPr>
              <a:defRPr sz="2000"/>
            </a:pPr>
            <a:r>
              <a:t>2. Selective Test Debugging</a:t>
            </a:r>
          </a:p>
          <a:p>
            <a:pPr lvl="1">
              <a:defRPr sz="1600"/>
            </a:pPr>
            <a:r>
              <a:t>Pick specific failures to investigate and rerun</a:t>
            </a:r>
          </a:p>
          <a:p>
            <a:pPr>
              <a:defRPr sz="1800"/>
            </a:pPr>
          </a:p>
          <a:p>
            <a:pPr>
              <a:defRPr sz="2000"/>
            </a:pPr>
            <a:r>
              <a:t>3. Release Validation</a:t>
            </a:r>
          </a:p>
          <a:p>
            <a:pPr lvl="1">
              <a:defRPr sz="1600"/>
            </a:pPr>
            <a:r>
              <a:t>Compare baseline vs latest to identify regressions</a:t>
            </a:r>
          </a:p>
          <a:p>
            <a:pPr>
              <a:defRPr sz="1800"/>
            </a:pPr>
          </a:p>
          <a:p>
            <a:pPr>
              <a:defRPr sz="2000"/>
            </a:pPr>
            <a:r>
              <a:t>4. Flaky Test Detection</a:t>
            </a:r>
          </a:p>
          <a:p>
            <a:pPr lvl="1">
              <a:defRPr sz="1600"/>
            </a:pPr>
            <a:r>
              <a:t>Compare 5-7 consecutive runs to find unstable tests</a:t>
            </a:r>
          </a:p>
          <a:p>
            <a:pPr>
              <a:defRPr sz="1800"/>
            </a:pPr>
          </a:p>
          <a:p>
            <a:pPr>
              <a:defRPr sz="2000"/>
            </a:pPr>
            <a:r>
              <a:t>5. Rerun with Confidence</a:t>
            </a:r>
          </a:p>
          <a:p>
            <a:pPr lvl="1">
              <a:defRPr sz="1600"/>
            </a:pPr>
            <a:r>
              <a:t>Run all failed tests or selective tests with one click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&amp;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For QA Engineers</a:t>
            </a:r>
          </a:p>
          <a:p>
            <a:pPr lvl="1">
              <a:defRPr sz="1600"/>
            </a:pPr>
            <a:r>
              <a:t>✓ Instant Rerun - One click to retry all failures</a:t>
            </a:r>
          </a:p>
          <a:p>
            <a:pPr lvl="1">
              <a:defRPr sz="1600"/>
            </a:pPr>
            <a:r>
              <a:t>✓ Save Time - Compare 7 runs in seconds vs hours manually</a:t>
            </a:r>
          </a:p>
          <a:p>
            <a:pPr lvl="1">
              <a:defRPr sz="1600"/>
            </a:pPr>
            <a:r>
              <a:t>✓ Quick Fixes - Edit tests directly from failure report</a:t>
            </a:r>
          </a:p>
          <a:p>
            <a:pPr>
              <a:defRPr sz="1800"/>
            </a:pPr>
          </a:p>
          <a:p>
            <a:pPr>
              <a:defRPr sz="2200"/>
            </a:pPr>
            <a:r>
              <a:t>For Test Managers</a:t>
            </a:r>
          </a:p>
          <a:p>
            <a:pPr lvl="1">
              <a:defRPr sz="1600"/>
            </a:pPr>
            <a:r>
              <a:t>✓ Track Quality Metrics - RTR trends for decisions</a:t>
            </a:r>
          </a:p>
          <a:p>
            <a:pPr lvl="1">
              <a:defRPr sz="1600"/>
            </a:pPr>
            <a:r>
              <a:t>✓ Resource Optimization - Identify flaky tests</a:t>
            </a:r>
          </a:p>
          <a:p>
            <a:pPr>
              <a:defRPr sz="1800"/>
            </a:pPr>
          </a:p>
          <a:p>
            <a:pPr>
              <a:defRPr sz="2200"/>
            </a:pPr>
            <a:r>
              <a:t>For Development Teams</a:t>
            </a:r>
          </a:p>
          <a:p>
            <a:pPr lvl="1">
              <a:defRPr sz="1600"/>
            </a:pPr>
            <a:r>
              <a:t>✓ Faster Feedback Loop - Rerun failures immediately</a:t>
            </a:r>
          </a:p>
          <a:p>
            <a:pPr lvl="1">
              <a:defRPr sz="1600"/>
            </a:pPr>
            <a:r>
              <a:t>✓ Regression Detection - Quickly identify breaking commits</a:t>
            </a:r>
          </a:p>
          <a:p>
            <a:pPr lvl="1">
              <a:defRPr sz="1600"/>
            </a:pPr>
            <a:r>
              <a:t>✓ Test Coverage Visibility - Understand test health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 Rigor Analyzer &amp; Rerunner</a:t>
            </a:r>
          </a:p>
          <a:p/>
          <a:p>
            <a:r>
              <a:t>🎯 Analyze • Compare • Optimize 🎯</a:t>
            </a:r>
          </a:p>
          <a:p/>
          <a:p>
            <a:r>
              <a:t>Your comprehensive testing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
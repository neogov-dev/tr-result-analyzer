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66092"/>
                </a:solidFill>
              </a:defRPr>
            </a:pPr>
            <a:r>
              <a:t>Test Rigor Result Analyzer &amp; Rerunner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One-Click Solution for Test Failure Analysis &amp; Automated Rerun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December 19,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• Manual failure analysis is time-consuming and error-prone</a:t>
            </a:r>
          </a:p>
          <a:p>
            <a:pPr>
              <a:spcBef>
                <a:spcPts val="1200"/>
              </a:spcBef>
              <a:defRPr sz="2000"/>
            </a:pPr>
            <a:r>
              <a:t>• Multiple Test Rigor test suites require individual API configurations</a:t>
            </a:r>
          </a:p>
          <a:p>
            <a:pPr>
              <a:spcBef>
                <a:spcPts val="1200"/>
              </a:spcBef>
              <a:defRPr sz="2000"/>
            </a:pPr>
            <a:r>
              <a:t>• Difficult to track and compare test results across multiple runs</a:t>
            </a:r>
          </a:p>
          <a:p>
            <a:pPr>
              <a:spcBef>
                <a:spcPts val="1200"/>
              </a:spcBef>
              <a:defRPr sz="2000"/>
            </a:pPr>
            <a:r>
              <a:t>• Screenshots and error details scattered across different locations</a:t>
            </a:r>
          </a:p>
          <a:p>
            <a:pPr>
              <a:spcBef>
                <a:spcPts val="1200"/>
              </a:spcBef>
              <a:defRPr sz="2000"/>
            </a:pPr>
            <a:r>
              <a:t>• No automated way to rerun failed tests efficiently</a:t>
            </a:r>
          </a:p>
          <a:p>
            <a:pPr>
              <a:spcBef>
                <a:spcPts val="1200"/>
              </a:spcBef>
              <a:defRPr sz="2000"/>
            </a:pPr>
            <a:r>
              <a:t>• Calculating RTR (Run-Through Rate) requires manual effort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/>
            </a:pPr>
            <a:r>
              <a:t>A comprehensive web-based application that:</a:t>
            </a:r>
          </a:p>
          <a:p>
            <a:pPr>
              <a:spcBef>
                <a:spcPts val="1000"/>
              </a:spcBef>
              <a:defRPr sz="1800">
                <a:solidFill>
                  <a:srgbClr val="70AD47"/>
                </a:solidFill>
              </a:defRPr>
            </a:pPr>
            <a:r>
              <a:t>✓ Automatically analyzes Test Rigor test runs and generates detailed failure reports</a:t>
            </a:r>
          </a:p>
          <a:p>
            <a:pPr>
              <a:spcBef>
                <a:spcPts val="1000"/>
              </a:spcBef>
              <a:defRPr sz="1800">
                <a:solidFill>
                  <a:srgbClr val="70AD47"/>
                </a:solidFill>
              </a:defRPr>
            </a:pPr>
            <a:r>
              <a:t>✓ Supports 22 different test suites with centralized configuration</a:t>
            </a:r>
          </a:p>
          <a:p>
            <a:pPr>
              <a:spcBef>
                <a:spcPts val="1000"/>
              </a:spcBef>
              <a:defRPr sz="1800">
                <a:solidFill>
                  <a:srgbClr val="70AD47"/>
                </a:solidFill>
              </a:defRPr>
            </a:pPr>
            <a:r>
              <a:t>✓ Validates and includes relevant screenshots with failure details</a:t>
            </a:r>
          </a:p>
          <a:p>
            <a:pPr>
              <a:spcBef>
                <a:spcPts val="1000"/>
              </a:spcBef>
              <a:defRPr sz="1800">
                <a:solidFill>
                  <a:srgbClr val="70AD47"/>
                </a:solidFill>
              </a:defRPr>
            </a:pPr>
            <a:r>
              <a:t>✓ Enables comparison between multiple test runs</a:t>
            </a:r>
          </a:p>
          <a:p>
            <a:pPr>
              <a:spcBef>
                <a:spcPts val="1000"/>
              </a:spcBef>
              <a:defRPr sz="1800">
                <a:solidFill>
                  <a:srgbClr val="70AD47"/>
                </a:solidFill>
              </a:defRPr>
            </a:pPr>
            <a:r>
              <a:t>✓ Provides one-click rerun functionality for failed test cases</a:t>
            </a:r>
          </a:p>
          <a:p>
            <a:pPr>
              <a:spcBef>
                <a:spcPts val="1000"/>
              </a:spcBef>
              <a:defRPr sz="1800">
                <a:solidFill>
                  <a:srgbClr val="70AD47"/>
                </a:solidFill>
              </a:defRPr>
            </a:pPr>
            <a:r>
              <a:t>✓ Generates comprehensive Excel reports with RTR calculations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Key Features: Report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472C4"/>
                </a:solidFill>
              </a:defRPr>
            </a:pPr>
            <a:r>
              <a:t>Automated Failure Detection</a:t>
            </a:r>
          </a:p>
          <a:p>
            <a:pPr>
              <a:spcBef>
                <a:spcPts val="600"/>
              </a:spcBef>
              <a:defRPr sz="1600"/>
            </a:pPr>
            <a:r>
              <a:t>• Test Case ID &amp; Name</a:t>
            </a:r>
          </a:p>
          <a:p>
            <a:pPr>
              <a:spcBef>
                <a:spcPts val="600"/>
              </a:spcBef>
              <a:defRPr sz="1600"/>
            </a:pPr>
            <a:r>
              <a:t>• Failure Status</a:t>
            </a:r>
          </a:p>
          <a:p>
            <a:pPr>
              <a:spcBef>
                <a:spcPts val="600"/>
              </a:spcBef>
              <a:defRPr sz="1600"/>
            </a:pPr>
            <a:r>
              <a:t>• Failed Step Number</a:t>
            </a:r>
          </a:p>
          <a:p>
            <a:pPr>
              <a:spcBef>
                <a:spcPts val="600"/>
              </a:spcBef>
              <a:defRPr sz="1600"/>
            </a:pPr>
            <a:r>
              <a:t>• Error Message</a:t>
            </a:r>
          </a:p>
          <a:p>
            <a:pPr>
              <a:spcBef>
                <a:spcPts val="600"/>
              </a:spcBef>
              <a:defRPr sz="1600"/>
            </a:pPr>
            <a:r>
              <a:t>• Screenshot URLs with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472C4"/>
                </a:solidFill>
              </a:defRPr>
            </a:pPr>
            <a:r>
              <a:t>Excel Report Contents</a:t>
            </a:r>
          </a:p>
          <a:p>
            <a:pPr>
              <a:spcBef>
                <a:spcPts val="600"/>
              </a:spcBef>
              <a:defRPr sz="1600"/>
            </a:pPr>
            <a:r>
              <a:t>• Run Information Summary</a:t>
            </a:r>
          </a:p>
          <a:p>
            <a:pPr>
              <a:spcBef>
                <a:spcPts val="600"/>
              </a:spcBef>
              <a:defRPr sz="1600"/>
            </a:pPr>
            <a:r>
              <a:t>• Total vs Failed Test Count</a:t>
            </a:r>
          </a:p>
          <a:p>
            <a:pPr>
              <a:spcBef>
                <a:spcPts val="600"/>
              </a:spcBef>
              <a:defRPr sz="1600"/>
            </a:pPr>
            <a:r>
              <a:t>• Detailed Failure Table</a:t>
            </a:r>
          </a:p>
          <a:p>
            <a:pPr>
              <a:spcBef>
                <a:spcPts val="600"/>
              </a:spcBef>
              <a:defRPr sz="1600"/>
            </a:pPr>
            <a:r>
              <a:t>• Validated Screenshot Links</a:t>
            </a:r>
          </a:p>
          <a:p>
            <a:pPr>
              <a:spcBef>
                <a:spcPts val="600"/>
              </a:spcBef>
              <a:defRPr sz="1600"/>
            </a:pPr>
            <a:r>
              <a:t>• Error Messages &amp; Commands</a:t>
            </a:r>
          </a:p>
          <a:p>
            <a:pPr>
              <a:spcBef>
                <a:spcPts val="600"/>
              </a:spcBef>
              <a:defRPr sz="1600"/>
            </a:pPr>
            <a:r>
              <a:t>• Generation Timestamp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Key Features: Run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/>
            </a:pPr>
            <a:r>
              <a:t>Compare Multiple Test Runs Side-by-Side</a:t>
            </a:r>
          </a:p>
          <a:p>
            <a:pPr>
              <a:spcBef>
                <a:spcPts val="1200"/>
              </a:spcBef>
              <a:defRPr sz="1800" b="1">
                <a:solidFill>
                  <a:srgbClr val="4472C4"/>
                </a:solidFill>
              </a:defRPr>
            </a:pPr>
            <a:r>
              <a:t>Overall Summary Sheet</a:t>
            </a:r>
          </a:p>
          <a:p>
            <a:pPr>
              <a:spcBef>
                <a:spcPts val="400"/>
              </a:spcBef>
              <a:defRPr sz="1500"/>
            </a:pPr>
            <a:r>
              <a:t>  Run-level statistics with RTR calculations for each run</a:t>
            </a:r>
          </a:p>
          <a:p>
            <a:pPr>
              <a:spcBef>
                <a:spcPts val="1200"/>
              </a:spcBef>
              <a:defRPr sz="1800" b="1">
                <a:solidFill>
                  <a:srgbClr val="4472C4"/>
                </a:solidFill>
              </a:defRPr>
            </a:pPr>
            <a:r>
              <a:t>Detailed Summary Sheet</a:t>
            </a:r>
          </a:p>
          <a:p>
            <a:pPr>
              <a:spcBef>
                <a:spcPts val="400"/>
              </a:spcBef>
              <a:defRPr sz="1500"/>
            </a:pPr>
            <a:r>
              <a:t>  Test-by-test status comparison across all runs</a:t>
            </a:r>
          </a:p>
          <a:p>
            <a:pPr>
              <a:spcBef>
                <a:spcPts val="1200"/>
              </a:spcBef>
              <a:defRPr sz="1800" b="1">
                <a:solidFill>
                  <a:srgbClr val="4472C4"/>
                </a:solidFill>
              </a:defRPr>
            </a:pPr>
            <a:r>
              <a:t>Status Color Coding</a:t>
            </a:r>
          </a:p>
          <a:p>
            <a:pPr>
              <a:spcBef>
                <a:spcPts val="400"/>
              </a:spcBef>
              <a:defRPr sz="1500"/>
            </a:pPr>
            <a:r>
              <a:t>  Visual indicators for passed, failed, and valid fail cases</a:t>
            </a:r>
          </a:p>
          <a:p>
            <a:pPr>
              <a:spcBef>
                <a:spcPts val="1200"/>
              </a:spcBef>
              <a:defRPr sz="1800" b="1">
                <a:solidFill>
                  <a:srgbClr val="4472C4"/>
                </a:solidFill>
              </a:defRPr>
            </a:pPr>
            <a:r>
              <a:t>Valid Fail Tracking</a:t>
            </a:r>
          </a:p>
          <a:p>
            <a:pPr>
              <a:spcBef>
                <a:spcPts val="400"/>
              </a:spcBef>
              <a:defRPr sz="1500"/>
            </a:pPr>
            <a:r>
              <a:t>  Separate column to mark expected failures</a:t>
            </a:r>
          </a:p>
          <a:p>
            <a:pPr>
              <a:spcBef>
                <a:spcPts val="1200"/>
              </a:spcBef>
              <a:defRPr sz="1800" b="1">
                <a:solidFill>
                  <a:srgbClr val="4472C4"/>
                </a:solidFill>
              </a:defRPr>
            </a:pPr>
            <a:r>
              <a:t>RTR Calculation</a:t>
            </a:r>
          </a:p>
          <a:p>
            <a:pPr>
              <a:spcBef>
                <a:spcPts val="400"/>
              </a:spcBef>
              <a:defRPr sz="1500"/>
            </a:pPr>
            <a:r>
              <a:t>  Automatic calculation: (Passed + Valid Fail) / Total Tests × 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Key Features: Automated Rerun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/>
            </a:pPr>
            <a:r>
              <a:t>One-Click Failed Test Rerun</a:t>
            </a:r>
          </a:p>
          <a:p>
            <a:pPr>
              <a:spcBef>
                <a:spcPts val="1200"/>
              </a:spcBef>
              <a:defRPr sz="2000">
                <a:solidFill>
                  <a:srgbClr val="70AD47"/>
                </a:solidFill>
              </a:defRPr>
            </a:pPr>
            <a:r>
              <a:t>✓ Automatically identifies all failed test cases from a run</a:t>
            </a:r>
          </a:p>
          <a:p>
            <a:pPr>
              <a:spcBef>
                <a:spcPts val="1200"/>
              </a:spcBef>
              <a:defRPr sz="2000">
                <a:solidFill>
                  <a:srgbClr val="70AD47"/>
                </a:solidFill>
              </a:defRPr>
            </a:pPr>
            <a:r>
              <a:t>✓ Single-click button to trigger rerun for all failures</a:t>
            </a:r>
          </a:p>
          <a:p>
            <a:pPr>
              <a:spcBef>
                <a:spcPts val="1200"/>
              </a:spcBef>
              <a:defRPr sz="2000">
                <a:solidFill>
                  <a:srgbClr val="70AD47"/>
                </a:solidFill>
              </a:defRPr>
            </a:pPr>
            <a:r>
              <a:t>✓ Uses Test Rigor API to initiate test execution</a:t>
            </a:r>
          </a:p>
          <a:p>
            <a:pPr>
              <a:spcBef>
                <a:spcPts val="1200"/>
              </a:spcBef>
              <a:defRPr sz="2000">
                <a:solidFill>
                  <a:srgbClr val="70AD47"/>
                </a:solidFill>
              </a:defRPr>
            </a:pPr>
            <a:r>
              <a:t>✓ Returns new Run ID for tracking rerun results</a:t>
            </a:r>
          </a:p>
          <a:p>
            <a:pPr>
              <a:spcBef>
                <a:spcPts val="1200"/>
              </a:spcBef>
              <a:defRPr sz="2000">
                <a:solidFill>
                  <a:srgbClr val="70AD47"/>
                </a:solidFill>
              </a:defRPr>
            </a:pPr>
            <a:r>
              <a:t>✓ Supports all configured test suites</a:t>
            </a:r>
          </a:p>
          <a:p>
            <a:pPr>
              <a:spcBef>
                <a:spcPts val="1200"/>
              </a:spcBef>
              <a:defRPr sz="2000">
                <a:solidFill>
                  <a:srgbClr val="70AD47"/>
                </a:solidFill>
              </a:defRPr>
            </a:pPr>
            <a:r>
              <a:t>✓ Concurrent execution for improved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Frontend</a:t>
            </a:r>
          </a:p>
          <a:p>
            <a:pPr>
              <a:spcBef>
                <a:spcPts val="1000"/>
              </a:spcBef>
              <a:defRPr sz="1600"/>
            </a:pPr>
            <a:r>
              <a:t>• HTML/CSS/JavaScript</a:t>
            </a:r>
          </a:p>
          <a:p>
            <a:pPr>
              <a:spcBef>
                <a:spcPts val="600"/>
              </a:spcBef>
              <a:defRPr sz="1600"/>
            </a:pPr>
            <a:r>
              <a:t>• Responsive web interface</a:t>
            </a:r>
          </a:p>
          <a:p>
            <a:pPr>
              <a:spcBef>
                <a:spcPts val="600"/>
              </a:spcBef>
              <a:defRPr sz="1600"/>
            </a:pPr>
            <a:r>
              <a:t>• Dynamic report display</a:t>
            </a:r>
          </a:p>
          <a:p>
            <a:pPr>
              <a:spcBef>
                <a:spcPts val="600"/>
              </a:spcBef>
              <a:defRPr sz="1600"/>
            </a:pPr>
            <a:r>
              <a:t>• Multi-suite dropdown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Backend</a:t>
            </a:r>
          </a:p>
          <a:p>
            <a:pPr>
              <a:spcBef>
                <a:spcPts val="1000"/>
              </a:spcBef>
              <a:defRPr sz="1600"/>
            </a:pPr>
            <a:r>
              <a:t>• Python Flask Framework</a:t>
            </a:r>
          </a:p>
          <a:p>
            <a:pPr>
              <a:spcBef>
                <a:spcPts val="600"/>
              </a:spcBef>
              <a:defRPr sz="1600"/>
            </a:pPr>
            <a:r>
              <a:t>• RESTful API endpoints</a:t>
            </a:r>
          </a:p>
          <a:p>
            <a:pPr>
              <a:spcBef>
                <a:spcPts val="600"/>
              </a:spcBef>
              <a:defRPr sz="1600"/>
            </a:pPr>
            <a:r>
              <a:t>• Test Rigor API integration</a:t>
            </a:r>
          </a:p>
          <a:p>
            <a:pPr>
              <a:spcBef>
                <a:spcPts val="600"/>
              </a:spcBef>
              <a:defRPr sz="1600"/>
            </a:pPr>
            <a:r>
              <a:t>• Excel report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472C4"/>
                </a:solidFill>
              </a:defRPr>
            </a:pPr>
            <a:r>
              <a:t>Data &amp; Integration Layer</a:t>
            </a:r>
          </a:p>
          <a:p>
            <a:pPr>
              <a:spcBef>
                <a:spcPts val="800"/>
              </a:spcBef>
              <a:defRPr sz="1600"/>
            </a:pPr>
            <a:r>
              <a:t>• JSON-based configuration (config.json) for 22 test suites</a:t>
            </a:r>
          </a:p>
          <a:p>
            <a:pPr>
              <a:spcBef>
                <a:spcPts val="800"/>
              </a:spcBef>
              <a:defRPr sz="1600"/>
            </a:pPr>
            <a:r>
              <a:t>• OpenpyXL for Excel report generation with formatting</a:t>
            </a:r>
          </a:p>
          <a:p>
            <a:pPr>
              <a:spcBef>
                <a:spcPts val="800"/>
              </a:spcBef>
              <a:defRPr sz="1600"/>
            </a:pPr>
            <a:r>
              <a:t>• ThreadPoolExecutor for concurrent screenshot validation</a:t>
            </a:r>
          </a:p>
          <a:p>
            <a:pPr>
              <a:spcBef>
                <a:spcPts val="800"/>
              </a:spcBef>
              <a:defRPr sz="1600"/>
            </a:pPr>
            <a:r>
              <a:t>• HTTP session management for API request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Multi-Suite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/>
            </a:pPr>
            <a:r>
              <a:t>Centralized Suite Management (config.json)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 b="1">
                <a:solidFill>
                  <a:srgbClr val="4472C4"/>
                </a:solidFill>
              </a:defRPr>
            </a:pPr>
            <a:r>
              <a:t>Supported Test Suites (22 Total):</a:t>
            </a:r>
          </a:p>
          <a:p>
            <a:pPr>
              <a:spcBef>
                <a:spcPts val="400"/>
              </a:spcBef>
              <a:defRPr sz="1400"/>
            </a:pPr>
            <a:r>
              <a:t>• CoreHR-MasterSuite-STG</a:t>
            </a:r>
          </a:p>
          <a:p>
            <a:pPr>
              <a:spcBef>
                <a:spcPts val="400"/>
              </a:spcBef>
              <a:defRPr sz="1400"/>
            </a:pPr>
            <a:r>
              <a:t>• HRIS-CoreHR-QA / HRIS-US-CoreHR / HRIS-US-CoreHR-QA</a:t>
            </a:r>
          </a:p>
          <a:p>
            <a:pPr>
              <a:spcBef>
                <a:spcPts val="400"/>
              </a:spcBef>
              <a:defRPr sz="1400"/>
            </a:pPr>
            <a:r>
              <a:t>• HRIS-US-PAY-QA / HRIS-US-PAY</a:t>
            </a:r>
          </a:p>
          <a:p>
            <a:pPr>
              <a:spcBef>
                <a:spcPts val="400"/>
              </a:spcBef>
              <a:defRPr sz="1400"/>
            </a:pPr>
            <a:r>
              <a:t>• Payroll-QA / Payroll-MasterSuite-STG</a:t>
            </a:r>
          </a:p>
          <a:p>
            <a:pPr>
              <a:spcBef>
                <a:spcPts val="400"/>
              </a:spcBef>
              <a:defRPr sz="1400"/>
            </a:pPr>
            <a:r>
              <a:t>• HRIS-US-TA-QA / HRIS-US-TA</a:t>
            </a:r>
          </a:p>
          <a:p>
            <a:pPr>
              <a:spcBef>
                <a:spcPts val="400"/>
              </a:spcBef>
              <a:defRPr sz="1400"/>
            </a:pPr>
            <a:r>
              <a:t>• Time and Attendance-QA / Time and Attendance-MasterSuite-STG</a:t>
            </a:r>
          </a:p>
          <a:p>
            <a:pPr>
              <a:spcBef>
                <a:spcPts val="400"/>
              </a:spcBef>
              <a:defRPr sz="1400"/>
            </a:pPr>
            <a:r>
              <a:t>• Benefits-QA / Benefits-MasterSuite-STG / HRIS-US-BEN / HRIS-US-BEN-QA</a:t>
            </a:r>
          </a:p>
          <a:p>
            <a:pPr>
              <a:spcBef>
                <a:spcPts val="400"/>
              </a:spcBef>
              <a:defRPr sz="1400"/>
            </a:pPr>
            <a:r>
              <a:t>• HRIS-US-SCHD-QA / HRIS-US-SCHD</a:t>
            </a:r>
          </a:p>
          <a:p>
            <a:pPr>
              <a:spcBef>
                <a:spcPts val="400"/>
              </a:spcBef>
              <a:defRPr sz="1400"/>
            </a:pPr>
            <a:r>
              <a:t>• Schedule-QA / Schedule-MasterSuite-STG</a:t>
            </a:r>
          </a:p>
          <a:p>
            <a:pPr>
              <a:spcBef>
                <a:spcPts val="400"/>
              </a:spcBef>
              <a:defRPr sz="1400"/>
            </a:pPr>
            <a:r>
              <a:t>• Neogov Common-QA / Neogov Common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Performance Optimizations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500"/>
              </a:spcBef>
              <a:defRPr sz="1800" b="1">
                <a:solidFill>
                  <a:srgbClr val="4472C4"/>
                </a:solidFill>
              </a:defRPr>
            </a:pPr>
            <a:r>
              <a:t>Concurrent Screenshot Validation</a:t>
            </a:r>
          </a:p>
          <a:p>
            <a:pPr>
              <a:spcBef>
                <a:spcPts val="600"/>
              </a:spcBef>
              <a:defRPr sz="1400"/>
            </a:pPr>
            <a:r>
              <a:t>ThreadPoolExecutor with up to 10 parallel requests</a:t>
            </a:r>
            <a:br/>
            <a:r>
              <a:t>Reduced validation time from 30s to ~5s for 2 test cases</a:t>
            </a:r>
          </a:p>
          <a:p>
            <a:pPr>
              <a:spcBef>
                <a:spcPts val="1500"/>
              </a:spcBef>
              <a:defRPr sz="1800" b="1">
                <a:solidFill>
                  <a:srgbClr val="4472C4"/>
                </a:solidFill>
              </a:defRPr>
            </a:pPr>
            <a:r>
              <a:t>HTTP Request Optimization</a:t>
            </a:r>
          </a:p>
          <a:p>
            <a:pPr>
              <a:spcBef>
                <a:spcPts val="600"/>
              </a:spcBef>
              <a:defRPr sz="1400"/>
            </a:pPr>
            <a:r>
              <a:t>Session-based connection pooling for request reuse</a:t>
            </a:r>
            <a:br/>
            <a:r>
              <a:t>Reduced timeout from 5s to 2s per request</a:t>
            </a:r>
            <a:br/>
            <a:r>
              <a:t>HEAD requests instead of GET for validation</a:t>
            </a:r>
          </a:p>
          <a:p>
            <a:pPr>
              <a:spcBef>
                <a:spcPts val="1500"/>
              </a:spcBef>
              <a:defRPr sz="1800" b="1">
                <a:solidFill>
                  <a:srgbClr val="4472C4"/>
                </a:solidFill>
              </a:defRPr>
            </a:pPr>
            <a:r>
              <a:t>Fallback Screenshot Logic</a:t>
            </a:r>
          </a:p>
          <a:p>
            <a:pPr>
              <a:spcBef>
                <a:spcPts val="600"/>
              </a:spcBef>
              <a:defRPr sz="1400"/>
            </a:pPr>
            <a:r>
              <a:t>Validates original .png URLs first</a:t>
            </a:r>
            <a:br/>
            <a:r>
              <a:t>Falls back to _highlighted.png if original fails</a:t>
            </a:r>
            <a:br/>
            <a:r>
              <a:t>Shows 'No screenshot available' if both fail</a:t>
            </a:r>
          </a:p>
          <a:p>
            <a:pPr>
              <a:spcBef>
                <a:spcPts val="1500"/>
              </a:spcBef>
              <a:defRPr sz="1800" b="1">
                <a:solidFill>
                  <a:srgbClr val="4472C4"/>
                </a:solidFill>
              </a:defRPr>
            </a:pPr>
            <a:r>
              <a:t>Batch Processing</a:t>
            </a:r>
          </a:p>
          <a:p>
            <a:pPr>
              <a:spcBef>
                <a:spcPts val="600"/>
              </a:spcBef>
              <a:defRPr sz="1400"/>
            </a:pPr>
            <a:r>
              <a:t>All screenshots for a test case validated simultaneously</a:t>
            </a:r>
            <a:br/>
            <a:r>
              <a:t>Concurrent API calls for multiple test cases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RTR (Run-Through Rate)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4472C4"/>
                </a:solidFill>
              </a:defRPr>
            </a:pPr>
            <a:r>
              <a:t>Formula</a:t>
            </a:r>
          </a:p>
          <a:p>
            <a:pPr>
              <a:spcBef>
                <a:spcPts val="500"/>
              </a:spcBef>
              <a:spcAft>
                <a:spcPts val="2000"/>
              </a:spcAft>
              <a:defRPr sz="2200" b="1"/>
            </a:pPr>
            <a:r>
              <a:t>RTR = ((Passed + Valid Fail) / Total Test Cases) × 100</a:t>
            </a:r>
          </a:p>
          <a:p>
            <a:pPr>
              <a:spcBef>
                <a:spcPts val="1500"/>
              </a:spcBef>
              <a:spcAft>
                <a:spcPts val="1000"/>
              </a:spcAft>
              <a:defRPr sz="2400" b="1">
                <a:solidFill>
                  <a:srgbClr val="4472C4"/>
                </a:solidFill>
              </a:defRPr>
            </a:pPr>
            <a:r>
              <a:t>Components</a:t>
            </a:r>
          </a:p>
          <a:p>
            <a:pPr>
              <a:spcBef>
                <a:spcPts val="800"/>
              </a:spcBef>
              <a:defRPr sz="1800"/>
            </a:pPr>
            <a:r>
              <a:t>• Passed: Test cases that passed successfully</a:t>
            </a:r>
          </a:p>
          <a:p>
            <a:pPr>
              <a:spcBef>
                <a:spcPts val="800"/>
              </a:spcBef>
              <a:defRPr sz="1800"/>
            </a:pPr>
            <a:r>
              <a:t>• Valid Fail: Test cases with expected/valid failures (negative test cases)</a:t>
            </a:r>
          </a:p>
          <a:p>
            <a:pPr>
              <a:spcBef>
                <a:spcPts val="800"/>
              </a:spcBef>
              <a:defRPr sz="1800"/>
            </a:pPr>
            <a:r>
              <a:t>• Total Test Cases: Total number of test cases executed</a:t>
            </a:r>
          </a:p>
          <a:p>
            <a:pPr>
              <a:spcBef>
                <a:spcPts val="800"/>
              </a:spcBef>
              <a:defRPr sz="1800"/>
            </a:pPr>
            <a:r>
              <a:t>• Failed: Unexpected failures (not included in RTR)</a:t>
            </a:r>
          </a:p>
          <a:p>
            <a:br/>
            <a:pPr>
              <a:spcBef>
                <a:spcPts val="2000"/>
              </a:spcBef>
              <a:defRPr sz="1600" i="1"/>
            </a:pPr>
            <a:r>
              <a:t>RTR represents the percentage of test cases that either passed OR had valid/expected failures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 b="1">
                <a:solidFill>
                  <a:srgbClr val="4472C4"/>
                </a:solidFill>
              </a:defRPr>
            </a:pPr>
            <a:r>
              <a:t>1. Generate Failure Report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/>
            </a:pPr>
            <a:r>
              <a:t>• Open http://localhost:5000</a:t>
            </a:r>
            <a:br/>
            <a:r>
              <a:t>• Select test suite from dropdown</a:t>
            </a:r>
            <a:br/>
            <a:r>
              <a:t>• Enter Test Rigor Run ID</a:t>
            </a:r>
            <a:br/>
            <a:r>
              <a:t>• Click 'Generate Report'</a:t>
            </a:r>
            <a:br/>
            <a:r>
              <a:t>• View results and download Excel report</a:t>
            </a:r>
          </a:p>
          <a:p>
            <a:pPr>
              <a:spcBef>
                <a:spcPts val="1200"/>
              </a:spcBef>
              <a:defRPr sz="2000" b="1">
                <a:solidFill>
                  <a:srgbClr val="4472C4"/>
                </a:solidFill>
              </a:defRPr>
            </a:pPr>
            <a:r>
              <a:t>2. Compare Multiple Runs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/>
            </a:pPr>
            <a:r>
              <a:t>• Navigate to 'Compare Runs' tab</a:t>
            </a:r>
            <a:br/>
            <a:r>
              <a:t>• Select test suite</a:t>
            </a:r>
            <a:br/>
            <a:r>
              <a:t>• Enter Run IDs for comparison (up to 5 runs)</a:t>
            </a:r>
            <a:br/>
            <a:r>
              <a:t>• Add runs and click 'Generate Comparison Report'</a:t>
            </a:r>
            <a:br/>
            <a:r>
              <a:t>• Download summary Excel with both sheets</a:t>
            </a:r>
          </a:p>
          <a:p>
            <a:pPr>
              <a:spcBef>
                <a:spcPts val="1200"/>
              </a:spcBef>
              <a:defRPr sz="2000" b="1">
                <a:solidFill>
                  <a:srgbClr val="4472C4"/>
                </a:solidFill>
              </a:defRPr>
            </a:pPr>
            <a:r>
              <a:t>3. Rerun Failed Tests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1400"/>
            </a:pPr>
            <a:r>
              <a:t>• Generate failure report first</a:t>
            </a:r>
            <a:br/>
            <a:r>
              <a:t>• Click 'Rerun Failed Tests' button</a:t>
            </a:r>
            <a:br/>
            <a:r>
              <a:t>• System automatically triggers rerun for all failures</a:t>
            </a:r>
            <a:br/>
            <a:r>
              <a:t>• Receive new Run ID to track rerun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Benefits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 b="1">
                <a:solidFill>
                  <a:srgbClr val="70AD47"/>
                </a:solidFill>
              </a:defRPr>
            </a:pPr>
            <a:r>
              <a:t>Time Savings</a:t>
            </a:r>
          </a:p>
          <a:p>
            <a:pPr>
              <a:spcBef>
                <a:spcPts val="600"/>
              </a:spcBef>
              <a:defRPr sz="1600"/>
            </a:pPr>
            <a:r>
              <a:t>Reduced failure analysis from hours to minutes</a:t>
            </a:r>
            <a:br/>
            <a:r>
              <a:t>Automated screenshot validation and collection</a:t>
            </a:r>
          </a:p>
          <a:p>
            <a:pPr>
              <a:spcBef>
                <a:spcPts val="1200"/>
              </a:spcBef>
              <a:defRPr sz="2000" b="1">
                <a:solidFill>
                  <a:srgbClr val="70AD47"/>
                </a:solidFill>
              </a:defRPr>
            </a:pPr>
            <a:r>
              <a:t>Improved Accuracy</a:t>
            </a:r>
          </a:p>
          <a:p>
            <a:pPr>
              <a:spcBef>
                <a:spcPts val="600"/>
              </a:spcBef>
              <a:defRPr sz="1600"/>
            </a:pPr>
            <a:r>
              <a:t>Eliminates manual errors in failure tracking</a:t>
            </a:r>
            <a:br/>
            <a:r>
              <a:t>Consistent RTR calculations across all runs</a:t>
            </a:r>
          </a:p>
          <a:p>
            <a:pPr>
              <a:spcBef>
                <a:spcPts val="1200"/>
              </a:spcBef>
              <a:defRPr sz="2000" b="1">
                <a:solidFill>
                  <a:srgbClr val="70AD47"/>
                </a:solidFill>
              </a:defRPr>
            </a:pPr>
            <a:r>
              <a:t>Better Visibility</a:t>
            </a:r>
          </a:p>
          <a:p>
            <a:pPr>
              <a:spcBef>
                <a:spcPts val="600"/>
              </a:spcBef>
              <a:defRPr sz="1600"/>
            </a:pPr>
            <a:r>
              <a:t>Comprehensive Excel reports for stakeholders</a:t>
            </a:r>
            <a:br/>
            <a:r>
              <a:t>Side-by-side comparison of multiple test runs</a:t>
            </a:r>
          </a:p>
          <a:p>
            <a:pPr>
              <a:spcBef>
                <a:spcPts val="1200"/>
              </a:spcBef>
              <a:defRPr sz="2000" b="1">
                <a:solidFill>
                  <a:srgbClr val="70AD47"/>
                </a:solidFill>
              </a:defRPr>
            </a:pPr>
            <a:r>
              <a:t>Enhanced Productivity</a:t>
            </a:r>
          </a:p>
          <a:p>
            <a:pPr>
              <a:spcBef>
                <a:spcPts val="600"/>
              </a:spcBef>
              <a:defRPr sz="1600"/>
            </a:pPr>
            <a:r>
              <a:t>One-click rerun for failed tests</a:t>
            </a:r>
            <a:br/>
            <a:r>
              <a:t>Support for 22 test suites without configuration changes</a:t>
            </a:r>
          </a:p>
          <a:p>
            <a:pPr>
              <a:spcBef>
                <a:spcPts val="1200"/>
              </a:spcBef>
              <a:defRPr sz="2000" b="1">
                <a:solidFill>
                  <a:srgbClr val="70AD47"/>
                </a:solidFill>
              </a:defRPr>
            </a:pPr>
            <a:r>
              <a:t>Cost Reduction</a:t>
            </a:r>
          </a:p>
          <a:p>
            <a:pPr>
              <a:spcBef>
                <a:spcPts val="600"/>
              </a:spcBef>
              <a:defRPr sz="1600"/>
            </a:pPr>
            <a:r>
              <a:t>Less manual effort required for test analysis</a:t>
            </a:r>
            <a:br/>
            <a:r>
              <a:t>Faster feedback loop for development teams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66092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• Dashboard with historical test run trends and analytics</a:t>
            </a:r>
          </a:p>
          <a:p>
            <a:pPr>
              <a:spcBef>
                <a:spcPts val="1200"/>
              </a:spcBef>
              <a:defRPr sz="2000"/>
            </a:pPr>
            <a:r>
              <a:t>• Email notifications for test failures with summary reports</a:t>
            </a:r>
          </a:p>
          <a:p>
            <a:pPr>
              <a:spcBef>
                <a:spcPts val="1200"/>
              </a:spcBef>
              <a:defRPr sz="2000"/>
            </a:pPr>
            <a:r>
              <a:t>• Integration with JIRA for automatic ticket creation</a:t>
            </a:r>
          </a:p>
          <a:p>
            <a:pPr>
              <a:spcBef>
                <a:spcPts val="1200"/>
              </a:spcBef>
              <a:defRPr sz="2000"/>
            </a:pPr>
            <a:r>
              <a:t>• Scheduled automated reruns with configurable retry logic</a:t>
            </a:r>
          </a:p>
          <a:p>
            <a:pPr>
              <a:spcBef>
                <a:spcPts val="1200"/>
              </a:spcBef>
              <a:defRPr sz="2000"/>
            </a:pPr>
            <a:r>
              <a:t>• Advanced filtering and search capabilities in reports</a:t>
            </a:r>
          </a:p>
          <a:p>
            <a:pPr>
              <a:spcBef>
                <a:spcPts val="1200"/>
              </a:spcBef>
              <a:defRPr sz="2000"/>
            </a:pPr>
            <a:r>
              <a:t>• PDF report generation alongside Excel reports</a:t>
            </a:r>
          </a:p>
          <a:p>
            <a:pPr>
              <a:spcBef>
                <a:spcPts val="1200"/>
              </a:spcBef>
              <a:defRPr sz="2000"/>
            </a:pPr>
            <a:r>
              <a:t>• Real-time test execution monitoring</a:t>
            </a:r>
          </a:p>
          <a:p>
            <a:pPr>
              <a:spcBef>
                <a:spcPts val="1200"/>
              </a:spcBef>
              <a:defRPr sz="2000"/>
            </a:pPr>
            <a:r>
              <a:t>• Custom report templates and branding options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66092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Let's see the application in action!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66092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4472C4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